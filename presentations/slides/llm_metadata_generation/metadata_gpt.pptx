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8229600" cx="14630400"/>
  <p:notesSz cx="6858000" cy="9144000"/>
  <p:embeddedFontLst>
    <p:embeddedFont>
      <p:font typeface="DM Sans SemiBold"/>
      <p:regular r:id="rId41"/>
      <p:bold r:id="rId42"/>
      <p:italic r:id="rId43"/>
      <p:boldItalic r:id="rId44"/>
    </p:embeddedFont>
    <p:embeddedFont>
      <p:font typeface="DM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DMSansSemiBold-bold.fntdata"/><Relationship Id="rId41" Type="http://schemas.openxmlformats.org/officeDocument/2006/relationships/font" Target="fonts/DMSansSemiBold-regular.fntdata"/><Relationship Id="rId22" Type="http://schemas.openxmlformats.org/officeDocument/2006/relationships/slide" Target="slides/slide16.xml"/><Relationship Id="rId44" Type="http://schemas.openxmlformats.org/officeDocument/2006/relationships/font" Target="fonts/DMSansSemiBold-boldItalic.fntdata"/><Relationship Id="rId21" Type="http://schemas.openxmlformats.org/officeDocument/2006/relationships/slide" Target="slides/slide15.xml"/><Relationship Id="rId43" Type="http://schemas.openxmlformats.org/officeDocument/2006/relationships/font" Target="fonts/DMSansSemiBold-italic.fntdata"/><Relationship Id="rId24" Type="http://schemas.openxmlformats.org/officeDocument/2006/relationships/slide" Target="slides/slide18.xml"/><Relationship Id="rId46" Type="http://schemas.openxmlformats.org/officeDocument/2006/relationships/font" Target="fonts/DMSans-bold.fntdata"/><Relationship Id="rId23" Type="http://schemas.openxmlformats.org/officeDocument/2006/relationships/slide" Target="slides/slide17.xml"/><Relationship Id="rId45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DMSans-boldItalic.fntdata"/><Relationship Id="rId25" Type="http://schemas.openxmlformats.org/officeDocument/2006/relationships/slide" Target="slides/slide19.xml"/><Relationship Id="rId47" Type="http://schemas.openxmlformats.org/officeDocument/2006/relationships/font" Target="fonts/DMSans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b74c176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6b74c176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6b74c1766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b74c17663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6b74c17663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Add, more on what is metadata, why do we need metadata, what are the uses of metadata?</a:t>
            </a:r>
            <a:endParaRPr/>
          </a:p>
        </p:txBody>
      </p:sp>
      <p:sp>
        <p:nvSpPr>
          <p:cNvPr id="232" name="Google Shape;232;g36b74c17663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b74c17663_0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b74c17663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Add, more on what is metadata, why do we need metadata, what are the uses of metadata?</a:t>
            </a:r>
            <a:endParaRPr/>
          </a:p>
        </p:txBody>
      </p:sp>
      <p:sp>
        <p:nvSpPr>
          <p:cNvPr id="240" name="Google Shape;240;g36b74c17663_0_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b74c17663_0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b74c17663_0_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Add, more on what is metadata, why do we need metadata, what are the uses of metadata?</a:t>
            </a:r>
            <a:endParaRPr/>
          </a:p>
        </p:txBody>
      </p:sp>
      <p:sp>
        <p:nvSpPr>
          <p:cNvPr id="249" name="Google Shape;249;g36b74c17663_0_2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b74c17663_0_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6b74c17663_0_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Add, more on what is metadata, why do we need metadata, what are the uses of metadata?</a:t>
            </a:r>
            <a:endParaRPr/>
          </a:p>
        </p:txBody>
      </p:sp>
      <p:sp>
        <p:nvSpPr>
          <p:cNvPr id="258" name="Google Shape;258;g36b74c17663_0_2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b74c17663_0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6b74c17663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Add, more on what is metadata, why do we need metadata, what are the uses of metadata?</a:t>
            </a:r>
            <a:endParaRPr/>
          </a:p>
        </p:txBody>
      </p:sp>
      <p:sp>
        <p:nvSpPr>
          <p:cNvPr id="267" name="Google Shape;267;g36b74c17663_0_2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6e37375173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6e37375173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6e37375173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6b74c17663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6b74c17663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6b74c17663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c0ed8835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6c0ed8835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6c0ed8835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e37375173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e37375173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6e37375173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6b74c17663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6b74c17663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6b74c17663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6b74c17663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6b74c17663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6b74c17663_0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6b74c17663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6b74c17663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By automating this task, generative AI not only streamlines workflows but also reduces the potential for human error, ensuring that the final output is both accurate and aligned with compliance requirements.</a:t>
            </a:r>
            <a:endParaRPr/>
          </a:p>
        </p:txBody>
      </p:sp>
      <p:sp>
        <p:nvSpPr>
          <p:cNvPr id="331" name="Google Shape;331;g36b74c17663_0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b74c17663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b74c17663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6b74c17663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6b74c17663_0_2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6b74c17663_0_2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6b74c17663_0_2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b74c17663_0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6b74c17663_0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6b74c17663_0_1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6b74c17663_0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6b74c17663_0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6b74c17663_0_1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6b74c17663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6b74c17663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6b74c17663_0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6c0ed88354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6c0ed88354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6c0ed88354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6c0ed88354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6c0ed88354_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6c0ed88354_1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6c0ed88354_1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6c0ed88354_1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6c0ed88354_1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c0ed88354_1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6c0ed88354_1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6c0ed88354_1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6c0ed88354_1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6c0ed88354_1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6c0ed88354_1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6c0ed88354_1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6c0ed88354_1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6c0ed88354_1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6b74c17663_0_2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6b74c17663_0_2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6b74c17663_0_2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6b74c17663_0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6b74c17663_0_2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6b74c17663_0_2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6b74c17663_0_2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6b74c17663_0_2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6b74c17663_0_2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6e3737517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6e3737517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6e3737517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6b74c17663_0_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6b74c17663_0_1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6b74c17663_0_1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6b74c17663_0_3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6b74c17663_0_3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6b74c17663_0_3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b74c17663_0_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6b74c17663_0_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6b74c17663_0_3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6b74c17663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6b74c17663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6b74c17663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g"/><Relationship Id="rId3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jpg"/><Relationship Id="rId3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jpg"/><Relationship Id="rId3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Light Blue)">
  <p:cSld name="Title Slide (Light Blue)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uds and clouds with numbers&#10;&#10;Description automatically generated" id="41" name="Google Shape;4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 txBox="1"/>
          <p:nvPr>
            <p:ph type="ctrTitle"/>
          </p:nvPr>
        </p:nvSpPr>
        <p:spPr>
          <a:xfrm>
            <a:off x="1" y="2459281"/>
            <a:ext cx="146304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00" lIns="457200" spcFirstLastPara="1" rIns="457200" wrap="square" tIns="274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Arial"/>
              <a:buNone/>
              <a:defRPr b="1" sz="5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"/>
          <p:cNvSpPr txBox="1"/>
          <p:nvPr>
            <p:ph idx="1" type="subTitle"/>
          </p:nvPr>
        </p:nvSpPr>
        <p:spPr>
          <a:xfrm>
            <a:off x="438913" y="5202481"/>
            <a:ext cx="1375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cap="none">
                <a:solidFill>
                  <a:schemeClr val="lt2"/>
                </a:solidFill>
              </a:defRPr>
            </a:lvl1pPr>
            <a:lvl2pPr lvl="1" algn="ctr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rgbClr val="8B8B8B"/>
                </a:solidFill>
              </a:defRPr>
            </a:lvl2pPr>
            <a:lvl3pPr lvl="2" algn="ctr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Arial"/>
              <a:buNone/>
              <a:defRPr>
                <a:solidFill>
                  <a:srgbClr val="8B8B8B"/>
                </a:solidFill>
              </a:defRPr>
            </a:lvl3pPr>
            <a:lvl4pPr lvl="3" algn="ctr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600"/>
              <a:buFont typeface="Arial"/>
              <a:buNone/>
              <a:defRPr>
                <a:solidFill>
                  <a:srgbClr val="8B8B8B"/>
                </a:solidFill>
              </a:defRPr>
            </a:lvl4pPr>
            <a:lvl5pPr lvl="4" algn="ctr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Arial"/>
              <a:buNone/>
              <a:defRPr>
                <a:solidFill>
                  <a:srgbClr val="8B8B8B"/>
                </a:solidFill>
              </a:defRPr>
            </a:lvl5pPr>
            <a:lvl6pPr lvl="5" algn="ctr">
              <a:spcBef>
                <a:spcPts val="480"/>
              </a:spcBef>
              <a:spcAft>
                <a:spcPts val="0"/>
              </a:spcAft>
              <a:buClr>
                <a:srgbClr val="8B8B8B"/>
              </a:buClr>
              <a:buSzPts val="2400"/>
              <a:buNone/>
              <a:defRPr>
                <a:solidFill>
                  <a:srgbClr val="8B8B8B"/>
                </a:solidFill>
              </a:defRPr>
            </a:lvl6pPr>
            <a:lvl7pPr lvl="6" algn="ctr">
              <a:spcBef>
                <a:spcPts val="480"/>
              </a:spcBef>
              <a:spcAft>
                <a:spcPts val="0"/>
              </a:spcAft>
              <a:buClr>
                <a:srgbClr val="8B8B8B"/>
              </a:buClr>
              <a:buSzPts val="2400"/>
              <a:buNone/>
              <a:defRPr>
                <a:solidFill>
                  <a:srgbClr val="8B8B8B"/>
                </a:solidFill>
              </a:defRPr>
            </a:lvl7pPr>
            <a:lvl8pPr lvl="7" algn="ctr">
              <a:spcBef>
                <a:spcPts val="480"/>
              </a:spcBef>
              <a:spcAft>
                <a:spcPts val="0"/>
              </a:spcAft>
              <a:buClr>
                <a:srgbClr val="8B8B8B"/>
              </a:buClr>
              <a:buSzPts val="2400"/>
              <a:buNone/>
              <a:defRPr>
                <a:solidFill>
                  <a:srgbClr val="8B8B8B"/>
                </a:solidFill>
              </a:defRPr>
            </a:lvl8pPr>
            <a:lvl9pPr lvl="8" algn="ctr">
              <a:spcBef>
                <a:spcPts val="480"/>
              </a:spcBef>
              <a:spcAft>
                <a:spcPts val="0"/>
              </a:spcAft>
              <a:buClr>
                <a:srgbClr val="8B8B8B"/>
              </a:buClr>
              <a:buSzPts val="2400"/>
              <a:buNone/>
              <a:defRPr>
                <a:solidFill>
                  <a:srgbClr val="8B8B8B"/>
                </a:solidFill>
              </a:defRPr>
            </a:lvl9pPr>
          </a:lstStyle>
          <a:p/>
        </p:txBody>
      </p:sp>
      <p:sp>
        <p:nvSpPr>
          <p:cNvPr id="45" name="Google Shape;45;p2"/>
          <p:cNvSpPr txBox="1"/>
          <p:nvPr>
            <p:ph idx="2" type="body"/>
          </p:nvPr>
        </p:nvSpPr>
        <p:spPr>
          <a:xfrm>
            <a:off x="438913" y="5751121"/>
            <a:ext cx="13752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b="1" sz="18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"/>
          <p:cNvSpPr txBox="1"/>
          <p:nvPr>
            <p:ph idx="3" type="body"/>
          </p:nvPr>
        </p:nvSpPr>
        <p:spPr>
          <a:xfrm>
            <a:off x="438913" y="6090334"/>
            <a:ext cx="13752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"/>
          <p:cNvSpPr txBox="1"/>
          <p:nvPr>
            <p:ph idx="11" type="ftr"/>
          </p:nvPr>
        </p:nvSpPr>
        <p:spPr>
          <a:xfrm>
            <a:off x="4389121" y="7671816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"/>
          <p:cNvSpPr txBox="1"/>
          <p:nvPr>
            <p:ph idx="10" type="dt"/>
          </p:nvPr>
        </p:nvSpPr>
        <p:spPr>
          <a:xfrm>
            <a:off x="10972800" y="767181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"/>
          <p:cNvSpPr txBox="1"/>
          <p:nvPr>
            <p:ph idx="12" type="sldNum"/>
          </p:nvPr>
        </p:nvSpPr>
        <p:spPr>
          <a:xfrm>
            <a:off x="13986664" y="767181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0" name="Google Shape;50;p2"/>
          <p:cNvCxnSpPr/>
          <p:nvPr/>
        </p:nvCxnSpPr>
        <p:spPr>
          <a:xfrm>
            <a:off x="13761720" y="7772400"/>
            <a:ext cx="0" cy="173700"/>
          </a:xfrm>
          <a:prstGeom prst="straightConnector1">
            <a:avLst/>
          </a:prstGeom>
          <a:noFill/>
          <a:ln cap="flat" cmpd="sng" w="12700">
            <a:solidFill>
              <a:srgbClr val="70727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Green)">
  <p:cSld name="Title Slide (Green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29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 txBox="1"/>
          <p:nvPr>
            <p:ph type="ctrTitle"/>
          </p:nvPr>
        </p:nvSpPr>
        <p:spPr>
          <a:xfrm>
            <a:off x="1" y="2459281"/>
            <a:ext cx="146304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00" lIns="457200" spcFirstLastPara="1" rIns="457200" wrap="square" tIns="2743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Arial"/>
              <a:buNone/>
              <a:defRPr b="1" sz="5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"/>
          <p:cNvSpPr txBox="1"/>
          <p:nvPr>
            <p:ph idx="1" type="subTitle"/>
          </p:nvPr>
        </p:nvSpPr>
        <p:spPr>
          <a:xfrm>
            <a:off x="438913" y="5202481"/>
            <a:ext cx="1375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cap="none">
                <a:solidFill>
                  <a:schemeClr val="lt2"/>
                </a:solidFill>
              </a:defRPr>
            </a:lvl1pPr>
            <a:lvl2pPr lvl="1" algn="ctr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rgbClr val="8B8B8B"/>
                </a:solidFill>
              </a:defRPr>
            </a:lvl2pPr>
            <a:lvl3pPr lvl="2" algn="ctr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Arial"/>
              <a:buNone/>
              <a:defRPr>
                <a:solidFill>
                  <a:srgbClr val="8B8B8B"/>
                </a:solidFill>
              </a:defRPr>
            </a:lvl3pPr>
            <a:lvl4pPr lvl="3" algn="ctr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600"/>
              <a:buFont typeface="Arial"/>
              <a:buNone/>
              <a:defRPr>
                <a:solidFill>
                  <a:srgbClr val="8B8B8B"/>
                </a:solidFill>
              </a:defRPr>
            </a:lvl4pPr>
            <a:lvl5pPr lvl="4" algn="ctr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Arial"/>
              <a:buNone/>
              <a:defRPr>
                <a:solidFill>
                  <a:srgbClr val="8B8B8B"/>
                </a:solidFill>
              </a:defRPr>
            </a:lvl5pPr>
            <a:lvl6pPr lvl="5" algn="ctr">
              <a:spcBef>
                <a:spcPts val="480"/>
              </a:spcBef>
              <a:spcAft>
                <a:spcPts val="0"/>
              </a:spcAft>
              <a:buClr>
                <a:srgbClr val="8B8B8B"/>
              </a:buClr>
              <a:buSzPts val="2400"/>
              <a:buNone/>
              <a:defRPr>
                <a:solidFill>
                  <a:srgbClr val="8B8B8B"/>
                </a:solidFill>
              </a:defRPr>
            </a:lvl6pPr>
            <a:lvl7pPr lvl="6" algn="ctr">
              <a:spcBef>
                <a:spcPts val="480"/>
              </a:spcBef>
              <a:spcAft>
                <a:spcPts val="0"/>
              </a:spcAft>
              <a:buClr>
                <a:srgbClr val="8B8B8B"/>
              </a:buClr>
              <a:buSzPts val="2400"/>
              <a:buNone/>
              <a:defRPr>
                <a:solidFill>
                  <a:srgbClr val="8B8B8B"/>
                </a:solidFill>
              </a:defRPr>
            </a:lvl7pPr>
            <a:lvl8pPr lvl="7" algn="ctr">
              <a:spcBef>
                <a:spcPts val="480"/>
              </a:spcBef>
              <a:spcAft>
                <a:spcPts val="0"/>
              </a:spcAft>
              <a:buClr>
                <a:srgbClr val="8B8B8B"/>
              </a:buClr>
              <a:buSzPts val="2400"/>
              <a:buNone/>
              <a:defRPr>
                <a:solidFill>
                  <a:srgbClr val="8B8B8B"/>
                </a:solidFill>
              </a:defRPr>
            </a:lvl8pPr>
            <a:lvl9pPr lvl="8" algn="ctr">
              <a:spcBef>
                <a:spcPts val="480"/>
              </a:spcBef>
              <a:spcAft>
                <a:spcPts val="0"/>
              </a:spcAft>
              <a:buClr>
                <a:srgbClr val="8B8B8B"/>
              </a:buClr>
              <a:buSzPts val="2400"/>
              <a:buNone/>
              <a:defRPr>
                <a:solidFill>
                  <a:srgbClr val="8B8B8B"/>
                </a:solidFill>
              </a:defRPr>
            </a:lvl9pPr>
          </a:lstStyle>
          <a:p/>
        </p:txBody>
      </p:sp>
      <p:sp>
        <p:nvSpPr>
          <p:cNvPr id="56" name="Google Shape;56;p3"/>
          <p:cNvSpPr txBox="1"/>
          <p:nvPr>
            <p:ph idx="2" type="body"/>
          </p:nvPr>
        </p:nvSpPr>
        <p:spPr>
          <a:xfrm>
            <a:off x="438913" y="5751121"/>
            <a:ext cx="13752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b="1" sz="18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3"/>
          <p:cNvSpPr txBox="1"/>
          <p:nvPr>
            <p:ph idx="3" type="body"/>
          </p:nvPr>
        </p:nvSpPr>
        <p:spPr>
          <a:xfrm>
            <a:off x="438913" y="6090334"/>
            <a:ext cx="13752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1" type="ftr"/>
          </p:nvPr>
        </p:nvSpPr>
        <p:spPr>
          <a:xfrm>
            <a:off x="4389121" y="7671816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"/>
          <p:cNvSpPr txBox="1"/>
          <p:nvPr>
            <p:ph idx="10" type="dt"/>
          </p:nvPr>
        </p:nvSpPr>
        <p:spPr>
          <a:xfrm>
            <a:off x="10972800" y="767181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idx="12" type="sldNum"/>
          </p:nvPr>
        </p:nvSpPr>
        <p:spPr>
          <a:xfrm>
            <a:off x="13986664" y="767181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1" name="Google Shape;61;p3"/>
          <p:cNvCxnSpPr/>
          <p:nvPr/>
        </p:nvCxnSpPr>
        <p:spPr>
          <a:xfrm>
            <a:off x="13761720" y="7772400"/>
            <a:ext cx="0" cy="173700"/>
          </a:xfrm>
          <a:prstGeom prst="straightConnector1">
            <a:avLst/>
          </a:prstGeom>
          <a:noFill/>
          <a:ln cap="flat" cmpd="sng" w="12700">
            <a:solidFill>
              <a:srgbClr val="70727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-Column Comparison (Light Blue)">
  <p:cSld name="Title + 2-Column Comparison (Light Blue)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sz="3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"/>
          <p:cNvSpPr/>
          <p:nvPr/>
        </p:nvSpPr>
        <p:spPr>
          <a:xfrm>
            <a:off x="153585" y="7452053"/>
            <a:ext cx="1902000" cy="620400"/>
          </a:xfrm>
          <a:prstGeom prst="rect">
            <a:avLst/>
          </a:prstGeom>
          <a:solidFill>
            <a:schemeClr val="lt2">
              <a:alpha val="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8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>
            <p:ph idx="1" type="body"/>
          </p:nvPr>
        </p:nvSpPr>
        <p:spPr>
          <a:xfrm>
            <a:off x="457200" y="1828800"/>
            <a:ext cx="65838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Char char="•"/>
              <a:defRPr sz="28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Arial"/>
              <a:buChar char="•"/>
              <a:defRPr sz="18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600"/>
              <a:buFont typeface="Arial"/>
              <a:buChar char="•"/>
              <a:defRPr sz="16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Arial"/>
              <a:buChar char="•"/>
              <a:defRPr sz="1400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5"/>
          <p:cNvSpPr txBox="1"/>
          <p:nvPr>
            <p:ph idx="2" type="body"/>
          </p:nvPr>
        </p:nvSpPr>
        <p:spPr>
          <a:xfrm>
            <a:off x="7589520" y="1828800"/>
            <a:ext cx="65838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5"/>
          <p:cNvSpPr txBox="1"/>
          <p:nvPr>
            <p:ph idx="11" type="ftr"/>
          </p:nvPr>
        </p:nvSpPr>
        <p:spPr>
          <a:xfrm>
            <a:off x="4389121" y="7671816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592">
          <p15:clr>
            <a:srgbClr val="FBAE40"/>
          </p15:clr>
        </p15:guide>
        <p15:guide id="2" pos="34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ondary">
  <p:cSld name="Secondar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438912" y="241402"/>
            <a:ext cx="106071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3000"/>
              <a:buFont typeface="Arial"/>
              <a:buNone/>
              <a:defRPr sz="3000">
                <a:solidFill>
                  <a:srgbClr val="19417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"/>
          <p:cNvSpPr txBox="1"/>
          <p:nvPr>
            <p:ph idx="10" type="dt"/>
          </p:nvPr>
        </p:nvSpPr>
        <p:spPr>
          <a:xfrm>
            <a:off x="10972800" y="7627622"/>
            <a:ext cx="2560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8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9" name="Google Shape;99;p6"/>
          <p:cNvCxnSpPr/>
          <p:nvPr/>
        </p:nvCxnSpPr>
        <p:spPr>
          <a:xfrm>
            <a:off x="13763607" y="7745970"/>
            <a:ext cx="0" cy="219600"/>
          </a:xfrm>
          <a:prstGeom prst="straightConnector1">
            <a:avLst/>
          </a:prstGeom>
          <a:noFill/>
          <a:ln cap="flat" cmpd="sng" w="12700">
            <a:solidFill>
              <a:srgbClr val="7072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6"/>
          <p:cNvSpPr/>
          <p:nvPr/>
        </p:nvSpPr>
        <p:spPr>
          <a:xfrm>
            <a:off x="6366925" y="-796412"/>
            <a:ext cx="18624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15561189" y="3677266"/>
            <a:ext cx="1848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>
            <p:ph idx="12" type="sldNum"/>
          </p:nvPr>
        </p:nvSpPr>
        <p:spPr>
          <a:xfrm>
            <a:off x="13986663" y="7627622"/>
            <a:ext cx="4827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sz="108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sz="108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sz="108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sz="108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sz="108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sz="108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sz="108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sz="108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sz="108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449075" y="1920239"/>
            <a:ext cx="14020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160"/>
              <a:buFont typeface="Arial"/>
              <a:buChar char="•"/>
              <a:defRPr sz="216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0519" lvl="2" marL="13716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920"/>
              <a:buFont typeface="Arial"/>
              <a:buChar char="•"/>
              <a:defRPr sz="19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5280" lvl="3" marL="18288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680"/>
              <a:buFont typeface="Arial"/>
              <a:buChar char="•"/>
              <a:defRPr sz="1679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5279" lvl="4" marL="22860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680"/>
              <a:buFont typeface="Arial"/>
              <a:buChar char="•"/>
              <a:defRPr sz="1679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Slide (Light Blue)">
  <p:cSld name="Standard Slide (Light Blue)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sz="3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"/>
          <p:cNvSpPr txBox="1"/>
          <p:nvPr>
            <p:ph idx="1" type="body"/>
          </p:nvPr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Char char="•"/>
              <a:defRPr sz="28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Arial"/>
              <a:buChar char="•"/>
              <a:defRPr sz="18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600"/>
              <a:buFont typeface="Arial"/>
              <a:buChar char="•"/>
              <a:defRPr sz="16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Arial"/>
              <a:buChar char="•"/>
              <a:defRPr sz="14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7"/>
          <p:cNvSpPr txBox="1"/>
          <p:nvPr>
            <p:ph idx="11" type="ftr"/>
          </p:nvPr>
        </p:nvSpPr>
        <p:spPr>
          <a:xfrm>
            <a:off x="4389121" y="7671816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7"/>
          <p:cNvSpPr txBox="1"/>
          <p:nvPr>
            <p:ph idx="10" type="dt"/>
          </p:nvPr>
        </p:nvSpPr>
        <p:spPr>
          <a:xfrm>
            <a:off x="10972800" y="767181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7"/>
          <p:cNvSpPr txBox="1"/>
          <p:nvPr>
            <p:ph idx="12" type="sldNum"/>
          </p:nvPr>
        </p:nvSpPr>
        <p:spPr>
          <a:xfrm>
            <a:off x="13986664" y="767181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0" name="Google Shape;110;p7"/>
          <p:cNvCxnSpPr/>
          <p:nvPr/>
        </p:nvCxnSpPr>
        <p:spPr>
          <a:xfrm>
            <a:off x="13761720" y="7772400"/>
            <a:ext cx="0" cy="173700"/>
          </a:xfrm>
          <a:prstGeom prst="straightConnector1">
            <a:avLst/>
          </a:prstGeom>
          <a:noFill/>
          <a:ln cap="flat" cmpd="sng" w="12700">
            <a:solidFill>
              <a:srgbClr val="70727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592">
          <p15:clr>
            <a:srgbClr val="FBAE40"/>
          </p15:clr>
        </p15:guide>
        <p15:guide id="2" pos="345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" type="body"/>
          </p:nvPr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10" type="dt"/>
          </p:nvPr>
        </p:nvSpPr>
        <p:spPr>
          <a:xfrm>
            <a:off x="10972800" y="767181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8"/>
          <p:cNvSpPr txBox="1"/>
          <p:nvPr>
            <p:ph idx="11" type="ftr"/>
          </p:nvPr>
        </p:nvSpPr>
        <p:spPr>
          <a:xfrm>
            <a:off x="4389121" y="7671816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8"/>
          <p:cNvSpPr txBox="1"/>
          <p:nvPr>
            <p:ph idx="12" type="sldNum"/>
          </p:nvPr>
        </p:nvSpPr>
        <p:spPr>
          <a:xfrm>
            <a:off x="13986664" y="767181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-Column Comparison with Titles (Light Blue)">
  <p:cSld name="Title + 2-Column Comparison with Titles (Light Blue)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idx="1" type="body"/>
          </p:nvPr>
        </p:nvSpPr>
        <p:spPr>
          <a:xfrm>
            <a:off x="457200" y="1828800"/>
            <a:ext cx="65838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None/>
              <a:defRPr b="1" sz="28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2pPr>
            <a:lvl3pPr indent="-228600" lvl="2" marL="13716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160"/>
              <a:buFont typeface="Arial"/>
              <a:buNone/>
              <a:defRPr b="1" sz="2160"/>
            </a:lvl3pPr>
            <a:lvl4pPr indent="-228600" lvl="3" marL="18288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920"/>
              <a:buFont typeface="Arial"/>
              <a:buNone/>
              <a:defRPr b="1" sz="1920"/>
            </a:lvl4pPr>
            <a:lvl5pPr indent="-228600" lvl="4" marL="22860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920"/>
              <a:buFont typeface="Arial"/>
              <a:buNone/>
              <a:defRPr b="1" sz="192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119" name="Google Shape;119;p9"/>
          <p:cNvSpPr txBox="1"/>
          <p:nvPr>
            <p:ph idx="2" type="body"/>
          </p:nvPr>
        </p:nvSpPr>
        <p:spPr>
          <a:xfrm>
            <a:off x="7589520" y="1828800"/>
            <a:ext cx="65838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None/>
              <a:defRPr b="1" sz="28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2pPr>
            <a:lvl3pPr indent="-228600" lvl="2" marL="13716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160"/>
              <a:buFont typeface="Arial"/>
              <a:buNone/>
              <a:defRPr b="1" sz="2160"/>
            </a:lvl3pPr>
            <a:lvl4pPr indent="-228600" lvl="3" marL="18288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920"/>
              <a:buFont typeface="Arial"/>
              <a:buNone/>
              <a:defRPr b="1" sz="1920"/>
            </a:lvl4pPr>
            <a:lvl5pPr indent="-228600" lvl="4" marL="22860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920"/>
              <a:buFont typeface="Arial"/>
              <a:buNone/>
              <a:defRPr b="1" sz="192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120" name="Google Shape;120;p9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b="1" sz="3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9"/>
          <p:cNvSpPr txBox="1"/>
          <p:nvPr>
            <p:ph idx="3" type="body"/>
          </p:nvPr>
        </p:nvSpPr>
        <p:spPr>
          <a:xfrm>
            <a:off x="457200" y="2743200"/>
            <a:ext cx="6583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Char char="•"/>
              <a:defRPr sz="28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Arial"/>
              <a:buChar char="•"/>
              <a:defRPr sz="18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600"/>
              <a:buFont typeface="Arial"/>
              <a:buChar char="•"/>
              <a:defRPr sz="16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Arial"/>
              <a:buChar char="•"/>
              <a:defRPr sz="14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9"/>
          <p:cNvSpPr txBox="1"/>
          <p:nvPr>
            <p:ph idx="4" type="body"/>
          </p:nvPr>
        </p:nvSpPr>
        <p:spPr>
          <a:xfrm>
            <a:off x="7589520" y="2743200"/>
            <a:ext cx="6583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Char char="•"/>
              <a:defRPr sz="28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Arial"/>
              <a:buChar char="•"/>
              <a:defRPr sz="18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600"/>
              <a:buFont typeface="Arial"/>
              <a:buChar char="•"/>
              <a:defRPr sz="16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Arial"/>
              <a:buChar char="•"/>
              <a:defRPr sz="140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9"/>
          <p:cNvSpPr txBox="1"/>
          <p:nvPr>
            <p:ph idx="11" type="ftr"/>
          </p:nvPr>
        </p:nvSpPr>
        <p:spPr>
          <a:xfrm>
            <a:off x="4389121" y="7671816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9"/>
          <p:cNvSpPr txBox="1"/>
          <p:nvPr>
            <p:ph idx="10" type="dt"/>
          </p:nvPr>
        </p:nvSpPr>
        <p:spPr>
          <a:xfrm>
            <a:off x="10972800" y="767181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9"/>
          <p:cNvSpPr txBox="1"/>
          <p:nvPr>
            <p:ph idx="12" type="sldNum"/>
          </p:nvPr>
        </p:nvSpPr>
        <p:spPr>
          <a:xfrm>
            <a:off x="13986664" y="767181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6" name="Google Shape;126;p9"/>
          <p:cNvCxnSpPr/>
          <p:nvPr/>
        </p:nvCxnSpPr>
        <p:spPr>
          <a:xfrm>
            <a:off x="13761720" y="7772400"/>
            <a:ext cx="0" cy="173700"/>
          </a:xfrm>
          <a:prstGeom prst="straightConnector1">
            <a:avLst/>
          </a:prstGeom>
          <a:noFill/>
          <a:ln cap="flat" cmpd="sng" w="12700">
            <a:solidFill>
              <a:srgbClr val="70727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icture with Caption (Light Blue)">
  <p:cSld name="Title + Picture with Caption (Light Blue)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sz="3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0"/>
          <p:cNvSpPr/>
          <p:nvPr/>
        </p:nvSpPr>
        <p:spPr>
          <a:xfrm>
            <a:off x="153585" y="7452053"/>
            <a:ext cx="1902000" cy="620400"/>
          </a:xfrm>
          <a:prstGeom prst="rect">
            <a:avLst/>
          </a:prstGeom>
          <a:solidFill>
            <a:schemeClr val="lt2">
              <a:alpha val="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8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6366925" y="-796412"/>
            <a:ext cx="18624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0"/>
          <p:cNvSpPr txBox="1"/>
          <p:nvPr/>
        </p:nvSpPr>
        <p:spPr>
          <a:xfrm>
            <a:off x="15561190" y="3677268"/>
            <a:ext cx="1848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>
            <p:ph idx="2" type="pic"/>
          </p:nvPr>
        </p:nvSpPr>
        <p:spPr>
          <a:xfrm>
            <a:off x="457200" y="1828797"/>
            <a:ext cx="13716000" cy="45720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457200" y="6583679"/>
            <a:ext cx="1371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80"/>
              <a:buFont typeface="Arial"/>
              <a:buNone/>
              <a:defRPr sz="1679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440"/>
              <a:buFont typeface="Arial"/>
              <a:buNone/>
              <a:defRPr sz="1440"/>
            </a:lvl2pPr>
            <a:lvl3pPr indent="-228600" lvl="2" marL="13716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080"/>
              <a:buFont typeface="Arial"/>
              <a:buNone/>
              <a:defRPr sz="1080"/>
            </a:lvl4pPr>
            <a:lvl5pPr indent="-228600" lvl="4" marL="22860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080"/>
              <a:buFont typeface="Arial"/>
              <a:buNone/>
              <a:defRPr sz="1080"/>
            </a:lvl5pPr>
            <a:lvl6pPr indent="-228600" lvl="5" marL="27432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6pPr>
            <a:lvl7pPr indent="-228600" lvl="6" marL="32004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7pPr>
            <a:lvl8pPr indent="-228600" lvl="7" marL="3657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8pPr>
            <a:lvl9pPr indent="-228600" lvl="8" marL="41148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9pPr>
          </a:lstStyle>
          <a:p/>
        </p:txBody>
      </p:sp>
      <p:sp>
        <p:nvSpPr>
          <p:cNvPr id="134" name="Google Shape;134;p10"/>
          <p:cNvSpPr txBox="1"/>
          <p:nvPr>
            <p:ph idx="11" type="ftr"/>
          </p:nvPr>
        </p:nvSpPr>
        <p:spPr>
          <a:xfrm>
            <a:off x="4389121" y="7671816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0"/>
          <p:cNvSpPr txBox="1"/>
          <p:nvPr>
            <p:ph idx="10" type="dt"/>
          </p:nvPr>
        </p:nvSpPr>
        <p:spPr>
          <a:xfrm>
            <a:off x="10972800" y="767181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0"/>
          <p:cNvSpPr txBox="1"/>
          <p:nvPr>
            <p:ph idx="12" type="sldNum"/>
          </p:nvPr>
        </p:nvSpPr>
        <p:spPr>
          <a:xfrm>
            <a:off x="13986664" y="767181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7" name="Google Shape;137;p10"/>
          <p:cNvCxnSpPr/>
          <p:nvPr/>
        </p:nvCxnSpPr>
        <p:spPr>
          <a:xfrm>
            <a:off x="13761720" y="7772400"/>
            <a:ext cx="0" cy="173700"/>
          </a:xfrm>
          <a:prstGeom prst="straightConnector1">
            <a:avLst/>
          </a:prstGeom>
          <a:noFill/>
          <a:ln cap="flat" cmpd="sng" w="12700">
            <a:solidFill>
              <a:srgbClr val="70727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592">
          <p15:clr>
            <a:srgbClr val="FBAE40"/>
          </p15:clr>
        </p15:guide>
        <p15:guide id="2" pos="345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(Light Blue)">
  <p:cSld name="Title Only (Light Blue)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sz="3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1"/>
          <p:cNvSpPr/>
          <p:nvPr/>
        </p:nvSpPr>
        <p:spPr>
          <a:xfrm>
            <a:off x="153585" y="7452053"/>
            <a:ext cx="1902000" cy="620400"/>
          </a:xfrm>
          <a:prstGeom prst="rect">
            <a:avLst/>
          </a:prstGeom>
          <a:solidFill>
            <a:schemeClr val="lt2">
              <a:alpha val="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8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6366925" y="-796412"/>
            <a:ext cx="18624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/>
          <p:nvPr/>
        </p:nvSpPr>
        <p:spPr>
          <a:xfrm>
            <a:off x="15561190" y="3677268"/>
            <a:ext cx="1848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 txBox="1"/>
          <p:nvPr>
            <p:ph idx="11" type="ftr"/>
          </p:nvPr>
        </p:nvSpPr>
        <p:spPr>
          <a:xfrm>
            <a:off x="4389121" y="7671816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1"/>
          <p:cNvSpPr txBox="1"/>
          <p:nvPr>
            <p:ph idx="10" type="dt"/>
          </p:nvPr>
        </p:nvSpPr>
        <p:spPr>
          <a:xfrm>
            <a:off x="10972800" y="767181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1"/>
          <p:cNvSpPr txBox="1"/>
          <p:nvPr>
            <p:ph idx="12" type="sldNum"/>
          </p:nvPr>
        </p:nvSpPr>
        <p:spPr>
          <a:xfrm>
            <a:off x="13986664" y="767181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6" name="Google Shape;146;p11"/>
          <p:cNvCxnSpPr/>
          <p:nvPr/>
        </p:nvCxnSpPr>
        <p:spPr>
          <a:xfrm>
            <a:off x="13761720" y="7772400"/>
            <a:ext cx="0" cy="173700"/>
          </a:xfrm>
          <a:prstGeom prst="straightConnector1">
            <a:avLst/>
          </a:prstGeom>
          <a:noFill/>
          <a:ln cap="flat" cmpd="sng" w="12700">
            <a:solidFill>
              <a:srgbClr val="70727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592">
          <p15:clr>
            <a:srgbClr val="FBAE40"/>
          </p15:clr>
        </p15:guide>
        <p15:guide id="2" pos="34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(Light Blue)">
  <p:cSld name="Section Divider (Light Blue)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uds and clouds with numbers&#10;&#10;Description automatically generated" id="177" name="Google Shape;17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4630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3"/>
          <p:cNvSpPr txBox="1"/>
          <p:nvPr>
            <p:ph type="title"/>
          </p:nvPr>
        </p:nvSpPr>
        <p:spPr>
          <a:xfrm>
            <a:off x="457200" y="1371600"/>
            <a:ext cx="13716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3"/>
          <p:cNvSpPr txBox="1"/>
          <p:nvPr>
            <p:ph idx="11" type="ftr"/>
          </p:nvPr>
        </p:nvSpPr>
        <p:spPr>
          <a:xfrm>
            <a:off x="4389121" y="7671816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3"/>
          <p:cNvSpPr txBox="1"/>
          <p:nvPr>
            <p:ph idx="10" type="dt"/>
          </p:nvPr>
        </p:nvSpPr>
        <p:spPr>
          <a:xfrm>
            <a:off x="10972800" y="767181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592">
          <p15:clr>
            <a:srgbClr val="FBAE40"/>
          </p15:clr>
        </p15:guide>
        <p15:guide id="2" pos="345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(Green)">
  <p:cSld name="Section Divider (Green)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background with clouds and numbers&#10;&#10;Description automatically generated" id="183" name="Google Shape;18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4630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4"/>
          <p:cNvSpPr txBox="1"/>
          <p:nvPr>
            <p:ph type="title"/>
          </p:nvPr>
        </p:nvSpPr>
        <p:spPr>
          <a:xfrm>
            <a:off x="457200" y="1371600"/>
            <a:ext cx="13716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4"/>
          <p:cNvSpPr txBox="1"/>
          <p:nvPr>
            <p:ph idx="11" type="ftr"/>
          </p:nvPr>
        </p:nvSpPr>
        <p:spPr>
          <a:xfrm>
            <a:off x="4389121" y="7671816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4"/>
          <p:cNvSpPr txBox="1"/>
          <p:nvPr>
            <p:ph idx="10" type="dt"/>
          </p:nvPr>
        </p:nvSpPr>
        <p:spPr>
          <a:xfrm>
            <a:off x="10972800" y="767181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4"/>
          <p:cNvSpPr txBox="1"/>
          <p:nvPr>
            <p:ph idx="12" type="sldNum"/>
          </p:nvPr>
        </p:nvSpPr>
        <p:spPr>
          <a:xfrm>
            <a:off x="13986664" y="7671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9" name="Google Shape;189;p14"/>
          <p:cNvCxnSpPr/>
          <p:nvPr/>
        </p:nvCxnSpPr>
        <p:spPr>
          <a:xfrm>
            <a:off x="13761720" y="7772400"/>
            <a:ext cx="0" cy="173736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592">
          <p15:clr>
            <a:srgbClr val="FBAE40"/>
          </p15:clr>
        </p15:guide>
        <p15:guide id="2" pos="345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(Dark Blue v1)">
  <p:cSld name="Section Divider (Dark Blue v1)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ark blue sky with clouds&#10;&#10;Description automatically generated" id="191" name="Google Shape;19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4630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 txBox="1"/>
          <p:nvPr>
            <p:ph type="title"/>
          </p:nvPr>
        </p:nvSpPr>
        <p:spPr>
          <a:xfrm>
            <a:off x="457199" y="1371600"/>
            <a:ext cx="13716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5"/>
          <p:cNvSpPr txBox="1"/>
          <p:nvPr>
            <p:ph idx="11" type="ftr"/>
          </p:nvPr>
        </p:nvSpPr>
        <p:spPr>
          <a:xfrm>
            <a:off x="4389121" y="7671816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5"/>
          <p:cNvSpPr txBox="1"/>
          <p:nvPr>
            <p:ph idx="10" type="dt"/>
          </p:nvPr>
        </p:nvSpPr>
        <p:spPr>
          <a:xfrm>
            <a:off x="10972800" y="767181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5"/>
          <p:cNvSpPr txBox="1"/>
          <p:nvPr>
            <p:ph idx="12" type="sldNum"/>
          </p:nvPr>
        </p:nvSpPr>
        <p:spPr>
          <a:xfrm>
            <a:off x="13986664" y="7671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7" name="Google Shape;197;p15"/>
          <p:cNvCxnSpPr/>
          <p:nvPr/>
        </p:nvCxnSpPr>
        <p:spPr>
          <a:xfrm>
            <a:off x="13761720" y="7772400"/>
            <a:ext cx="0" cy="173736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592">
          <p15:clr>
            <a:srgbClr val="FBAE40"/>
          </p15:clr>
        </p15:guide>
        <p15:guide id="2" pos="34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9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9.jpg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uds and clouds with numbers&#10;&#10;Description automatically generated"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389121" y="7671816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194173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194173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19417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194173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19417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0" type="dt"/>
          </p:nvPr>
        </p:nvSpPr>
        <p:spPr>
          <a:xfrm>
            <a:off x="10972800" y="767181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3986664" y="767181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i="0" sz="1100" u="none" cap="none" strike="noStrike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i="0" sz="1100" u="none" cap="none" strike="noStrike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i="0" sz="1100" u="none" cap="none" strike="noStrike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i="0" sz="1100" u="none" cap="none" strike="noStrike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i="0" sz="1100" u="none" cap="none" strike="noStrike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i="0" sz="1100" u="none" cap="none" strike="noStrike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i="0" sz="1100" u="none" cap="none" strike="noStrike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i="0" sz="1100" u="none" cap="none" strike="noStrike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i="0" sz="1100" u="none" cap="none" strike="noStrike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1"/>
          <p:cNvGrpSpPr/>
          <p:nvPr/>
        </p:nvGrpSpPr>
        <p:grpSpPr>
          <a:xfrm>
            <a:off x="-2286000" y="1828800"/>
            <a:ext cx="1965960" cy="4572001"/>
            <a:chOff x="-2286000" y="1371600"/>
            <a:chExt cx="1965960" cy="4572001"/>
          </a:xfrm>
        </p:grpSpPr>
        <p:grpSp>
          <p:nvGrpSpPr>
            <p:cNvPr id="18" name="Google Shape;18;p1"/>
            <p:cNvGrpSpPr/>
            <p:nvPr/>
          </p:nvGrpSpPr>
          <p:grpSpPr>
            <a:xfrm>
              <a:off x="-2286000" y="1371600"/>
              <a:ext cx="1965960" cy="457201"/>
              <a:chOff x="-1828800" y="1314921"/>
              <a:chExt cx="1965960" cy="457201"/>
            </a:xfrm>
          </p:grpSpPr>
          <p:sp>
            <p:nvSpPr>
              <p:cNvPr id="19" name="Google Shape;19;p1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0070C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16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1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70C1"/>
                    </a:solidFill>
                    <a:latin typeface="Arial"/>
                    <a:ea typeface="Arial"/>
                    <a:cs typeface="Arial"/>
                    <a:sym typeface="Arial"/>
                  </a:rPr>
                  <a:t>Primary Blue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70C1"/>
                    </a:solidFill>
                    <a:latin typeface="Arial"/>
                    <a:ea typeface="Arial"/>
                    <a:cs typeface="Arial"/>
                    <a:sym typeface="Arial"/>
                  </a:rPr>
                  <a:t>#0070C1</a:t>
                </a:r>
                <a:endParaRPr/>
              </a:p>
            </p:txBody>
          </p:sp>
        </p:grpSp>
        <p:grpSp>
          <p:nvGrpSpPr>
            <p:cNvPr id="21" name="Google Shape;21;p1"/>
            <p:cNvGrpSpPr/>
            <p:nvPr/>
          </p:nvGrpSpPr>
          <p:grpSpPr>
            <a:xfrm>
              <a:off x="-2286000" y="2743200"/>
              <a:ext cx="1965960" cy="457201"/>
              <a:chOff x="-1828800" y="1314921"/>
              <a:chExt cx="1965960" cy="457201"/>
            </a:xfrm>
          </p:grpSpPr>
          <p:sp>
            <p:nvSpPr>
              <p:cNvPr id="22" name="Google Shape;22;p1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19417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1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194173"/>
                    </a:solidFill>
                    <a:latin typeface="Arial"/>
                    <a:ea typeface="Arial"/>
                    <a:cs typeface="Arial"/>
                    <a:sym typeface="Arial"/>
                  </a:rPr>
                  <a:t>ARM Blue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194173"/>
                    </a:solidFill>
                    <a:latin typeface="Arial"/>
                    <a:ea typeface="Arial"/>
                    <a:cs typeface="Arial"/>
                    <a:sym typeface="Arial"/>
                  </a:rPr>
                  <a:t>#194173</a:t>
                </a:r>
                <a:endParaRPr/>
              </a:p>
            </p:txBody>
          </p:sp>
        </p:grpSp>
        <p:grpSp>
          <p:nvGrpSpPr>
            <p:cNvPr id="24" name="Google Shape;24;p1"/>
            <p:cNvGrpSpPr/>
            <p:nvPr/>
          </p:nvGrpSpPr>
          <p:grpSpPr>
            <a:xfrm>
              <a:off x="-2286000" y="3429000"/>
              <a:ext cx="1965960" cy="457201"/>
              <a:chOff x="-1828800" y="1314921"/>
              <a:chExt cx="1965960" cy="457201"/>
            </a:xfrm>
          </p:grpSpPr>
          <p:sp>
            <p:nvSpPr>
              <p:cNvPr id="25" name="Google Shape;25;p1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00BD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1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BD70"/>
                    </a:solidFill>
                    <a:latin typeface="Arial"/>
                    <a:ea typeface="Arial"/>
                    <a:cs typeface="Arial"/>
                    <a:sym typeface="Arial"/>
                  </a:rPr>
                  <a:t>ARM Green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BD70"/>
                    </a:solidFill>
                    <a:latin typeface="Arial"/>
                    <a:ea typeface="Arial"/>
                    <a:cs typeface="Arial"/>
                    <a:sym typeface="Arial"/>
                  </a:rPr>
                  <a:t>#00BD70</a:t>
                </a:r>
                <a:endParaRPr/>
              </a:p>
            </p:txBody>
          </p:sp>
        </p:grpSp>
        <p:grpSp>
          <p:nvGrpSpPr>
            <p:cNvPr id="27" name="Google Shape;27;p1"/>
            <p:cNvGrpSpPr/>
            <p:nvPr/>
          </p:nvGrpSpPr>
          <p:grpSpPr>
            <a:xfrm>
              <a:off x="-2286000" y="4114800"/>
              <a:ext cx="1965960" cy="457201"/>
              <a:chOff x="-1828800" y="1314921"/>
              <a:chExt cx="1965960" cy="457201"/>
            </a:xfrm>
          </p:grpSpPr>
          <p:sp>
            <p:nvSpPr>
              <p:cNvPr id="28" name="Google Shape;28;p1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8282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1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828282"/>
                    </a:solidFill>
                    <a:latin typeface="Arial"/>
                    <a:ea typeface="Arial"/>
                    <a:cs typeface="Arial"/>
                    <a:sym typeface="Arial"/>
                  </a:rPr>
                  <a:t>Gray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828282"/>
                    </a:solidFill>
                    <a:latin typeface="Arial"/>
                    <a:ea typeface="Arial"/>
                    <a:cs typeface="Arial"/>
                    <a:sym typeface="Arial"/>
                  </a:rPr>
                  <a:t>#828282</a:t>
                </a:r>
                <a:endParaRPr/>
              </a:p>
            </p:txBody>
          </p:sp>
        </p:grpSp>
        <p:grpSp>
          <p:nvGrpSpPr>
            <p:cNvPr id="30" name="Google Shape;30;p1"/>
            <p:cNvGrpSpPr/>
            <p:nvPr/>
          </p:nvGrpSpPr>
          <p:grpSpPr>
            <a:xfrm>
              <a:off x="-2286000" y="4800600"/>
              <a:ext cx="1965960" cy="457201"/>
              <a:chOff x="-1828800" y="1314921"/>
              <a:chExt cx="1965960" cy="457201"/>
            </a:xfrm>
          </p:grpSpPr>
          <p:sp>
            <p:nvSpPr>
              <p:cNvPr id="31" name="Google Shape;31;p1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1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Black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#000000</a:t>
                </a:r>
                <a:endParaRPr/>
              </a:p>
            </p:txBody>
          </p:sp>
        </p:grpSp>
        <p:grpSp>
          <p:nvGrpSpPr>
            <p:cNvPr id="33" name="Google Shape;33;p1"/>
            <p:cNvGrpSpPr/>
            <p:nvPr/>
          </p:nvGrpSpPr>
          <p:grpSpPr>
            <a:xfrm>
              <a:off x="-2286000" y="5486400"/>
              <a:ext cx="1965960" cy="457201"/>
              <a:chOff x="-1828800" y="1314921"/>
              <a:chExt cx="1965960" cy="457201"/>
            </a:xfrm>
          </p:grpSpPr>
          <p:sp>
            <p:nvSpPr>
              <p:cNvPr id="34" name="Google Shape;34;p1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White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#FFFFFF</a:t>
                </a:r>
                <a:endParaRPr/>
              </a:p>
            </p:txBody>
          </p:sp>
        </p:grpSp>
        <p:grpSp>
          <p:nvGrpSpPr>
            <p:cNvPr id="36" name="Google Shape;36;p1"/>
            <p:cNvGrpSpPr/>
            <p:nvPr/>
          </p:nvGrpSpPr>
          <p:grpSpPr>
            <a:xfrm>
              <a:off x="-2286000" y="2057400"/>
              <a:ext cx="1965960" cy="457201"/>
              <a:chOff x="-1828800" y="1314921"/>
              <a:chExt cx="1965960" cy="457201"/>
            </a:xfrm>
          </p:grpSpPr>
          <p:sp>
            <p:nvSpPr>
              <p:cNvPr id="37" name="Google Shape;37;p1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80B8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80B8E0"/>
                    </a:solidFill>
                    <a:latin typeface="Arial"/>
                    <a:ea typeface="Arial"/>
                    <a:cs typeface="Arial"/>
                    <a:sym typeface="Arial"/>
                  </a:rPr>
                  <a:t>Light Blue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80B8E0"/>
                    </a:solidFill>
                    <a:latin typeface="Arial"/>
                    <a:ea typeface="Arial"/>
                    <a:cs typeface="Arial"/>
                    <a:sym typeface="Arial"/>
                  </a:rPr>
                  <a:t>#80B8E0</a:t>
                </a:r>
                <a:endParaRPr/>
              </a:p>
            </p:txBody>
          </p:sp>
        </p:grpSp>
      </p:grpSp>
      <p:cxnSp>
        <p:nvCxnSpPr>
          <p:cNvPr id="39" name="Google Shape;39;p1"/>
          <p:cNvCxnSpPr/>
          <p:nvPr/>
        </p:nvCxnSpPr>
        <p:spPr>
          <a:xfrm>
            <a:off x="13761720" y="7772400"/>
            <a:ext cx="0" cy="173700"/>
          </a:xfrm>
          <a:prstGeom prst="straightConnector1">
            <a:avLst/>
          </a:prstGeom>
          <a:noFill/>
          <a:ln cap="flat" cmpd="sng" w="12700">
            <a:solidFill>
              <a:srgbClr val="70727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uds and clouds with numbers&#10;&#10;Description automatically generated" id="63" name="Google Shape;63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6" name="Google Shape;66;p4"/>
          <p:cNvSpPr txBox="1"/>
          <p:nvPr>
            <p:ph idx="1" type="body"/>
          </p:nvPr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194173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194173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19417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194173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19417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7" name="Google Shape;67;p4"/>
          <p:cNvGrpSpPr/>
          <p:nvPr/>
        </p:nvGrpSpPr>
        <p:grpSpPr>
          <a:xfrm>
            <a:off x="-2286000" y="1828800"/>
            <a:ext cx="1965960" cy="4572001"/>
            <a:chOff x="-2286000" y="1371600"/>
            <a:chExt cx="1965960" cy="4572001"/>
          </a:xfrm>
        </p:grpSpPr>
        <p:grpSp>
          <p:nvGrpSpPr>
            <p:cNvPr id="68" name="Google Shape;68;p4"/>
            <p:cNvGrpSpPr/>
            <p:nvPr/>
          </p:nvGrpSpPr>
          <p:grpSpPr>
            <a:xfrm>
              <a:off x="-2286000" y="1371600"/>
              <a:ext cx="1965960" cy="457201"/>
              <a:chOff x="-1828800" y="1314921"/>
              <a:chExt cx="1965960" cy="457201"/>
            </a:xfrm>
          </p:grpSpPr>
          <p:sp>
            <p:nvSpPr>
              <p:cNvPr id="69" name="Google Shape;69;p4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0070C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4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70C1"/>
                    </a:solidFill>
                    <a:latin typeface="Arial"/>
                    <a:ea typeface="Arial"/>
                    <a:cs typeface="Arial"/>
                    <a:sym typeface="Arial"/>
                  </a:rPr>
                  <a:t>Primary Blue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70C1"/>
                    </a:solidFill>
                    <a:latin typeface="Arial"/>
                    <a:ea typeface="Arial"/>
                    <a:cs typeface="Arial"/>
                    <a:sym typeface="Arial"/>
                  </a:rPr>
                  <a:t>#0070C1</a:t>
                </a:r>
                <a:endParaRPr/>
              </a:p>
            </p:txBody>
          </p:sp>
        </p:grpSp>
        <p:grpSp>
          <p:nvGrpSpPr>
            <p:cNvPr id="71" name="Google Shape;71;p4"/>
            <p:cNvGrpSpPr/>
            <p:nvPr/>
          </p:nvGrpSpPr>
          <p:grpSpPr>
            <a:xfrm>
              <a:off x="-2286000" y="2743200"/>
              <a:ext cx="1965960" cy="457201"/>
              <a:chOff x="-1828800" y="1314921"/>
              <a:chExt cx="1965960" cy="457201"/>
            </a:xfrm>
          </p:grpSpPr>
          <p:sp>
            <p:nvSpPr>
              <p:cNvPr id="72" name="Google Shape;72;p4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19417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4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194173"/>
                    </a:solidFill>
                    <a:latin typeface="Arial"/>
                    <a:ea typeface="Arial"/>
                    <a:cs typeface="Arial"/>
                    <a:sym typeface="Arial"/>
                  </a:rPr>
                  <a:t>ARM Blue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194173"/>
                    </a:solidFill>
                    <a:latin typeface="Arial"/>
                    <a:ea typeface="Arial"/>
                    <a:cs typeface="Arial"/>
                    <a:sym typeface="Arial"/>
                  </a:rPr>
                  <a:t>#194173</a:t>
                </a:r>
                <a:endParaRPr/>
              </a:p>
            </p:txBody>
          </p:sp>
        </p:grpSp>
        <p:grpSp>
          <p:nvGrpSpPr>
            <p:cNvPr id="74" name="Google Shape;74;p4"/>
            <p:cNvGrpSpPr/>
            <p:nvPr/>
          </p:nvGrpSpPr>
          <p:grpSpPr>
            <a:xfrm>
              <a:off x="-2286000" y="3429000"/>
              <a:ext cx="1965960" cy="457201"/>
              <a:chOff x="-1828800" y="1314921"/>
              <a:chExt cx="1965960" cy="457201"/>
            </a:xfrm>
          </p:grpSpPr>
          <p:sp>
            <p:nvSpPr>
              <p:cNvPr id="75" name="Google Shape;75;p4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00BD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4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BD70"/>
                    </a:solidFill>
                    <a:latin typeface="Arial"/>
                    <a:ea typeface="Arial"/>
                    <a:cs typeface="Arial"/>
                    <a:sym typeface="Arial"/>
                  </a:rPr>
                  <a:t>ARM Green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BD70"/>
                    </a:solidFill>
                    <a:latin typeface="Arial"/>
                    <a:ea typeface="Arial"/>
                    <a:cs typeface="Arial"/>
                    <a:sym typeface="Arial"/>
                  </a:rPr>
                  <a:t>#00BD70</a:t>
                </a:r>
                <a:endParaRPr/>
              </a:p>
            </p:txBody>
          </p:sp>
        </p:grpSp>
        <p:grpSp>
          <p:nvGrpSpPr>
            <p:cNvPr id="77" name="Google Shape;77;p4"/>
            <p:cNvGrpSpPr/>
            <p:nvPr/>
          </p:nvGrpSpPr>
          <p:grpSpPr>
            <a:xfrm>
              <a:off x="-2286000" y="4114800"/>
              <a:ext cx="1965960" cy="457201"/>
              <a:chOff x="-1828800" y="1314921"/>
              <a:chExt cx="1965960" cy="457201"/>
            </a:xfrm>
          </p:grpSpPr>
          <p:sp>
            <p:nvSpPr>
              <p:cNvPr id="78" name="Google Shape;78;p4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8282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4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828282"/>
                    </a:solidFill>
                    <a:latin typeface="Arial"/>
                    <a:ea typeface="Arial"/>
                    <a:cs typeface="Arial"/>
                    <a:sym typeface="Arial"/>
                  </a:rPr>
                  <a:t>Gray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828282"/>
                    </a:solidFill>
                    <a:latin typeface="Arial"/>
                    <a:ea typeface="Arial"/>
                    <a:cs typeface="Arial"/>
                    <a:sym typeface="Arial"/>
                  </a:rPr>
                  <a:t>#828282</a:t>
                </a:r>
                <a:endParaRPr/>
              </a:p>
            </p:txBody>
          </p:sp>
        </p:grpSp>
        <p:grpSp>
          <p:nvGrpSpPr>
            <p:cNvPr id="80" name="Google Shape;80;p4"/>
            <p:cNvGrpSpPr/>
            <p:nvPr/>
          </p:nvGrpSpPr>
          <p:grpSpPr>
            <a:xfrm>
              <a:off x="-2286000" y="4800600"/>
              <a:ext cx="1965960" cy="457201"/>
              <a:chOff x="-1828800" y="1314921"/>
              <a:chExt cx="1965960" cy="457201"/>
            </a:xfrm>
          </p:grpSpPr>
          <p:sp>
            <p:nvSpPr>
              <p:cNvPr id="81" name="Google Shape;81;p4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4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Black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#000000</a:t>
                </a:r>
                <a:endParaRPr/>
              </a:p>
            </p:txBody>
          </p:sp>
        </p:grpSp>
        <p:grpSp>
          <p:nvGrpSpPr>
            <p:cNvPr id="83" name="Google Shape;83;p4"/>
            <p:cNvGrpSpPr/>
            <p:nvPr/>
          </p:nvGrpSpPr>
          <p:grpSpPr>
            <a:xfrm>
              <a:off x="-2286000" y="5486400"/>
              <a:ext cx="1965960" cy="457201"/>
              <a:chOff x="-1828800" y="1314921"/>
              <a:chExt cx="1965960" cy="457201"/>
            </a:xfrm>
          </p:grpSpPr>
          <p:sp>
            <p:nvSpPr>
              <p:cNvPr id="84" name="Google Shape;84;p4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4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White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#FFFFFF</a:t>
                </a:r>
                <a:endParaRPr/>
              </a:p>
            </p:txBody>
          </p:sp>
        </p:grpSp>
        <p:grpSp>
          <p:nvGrpSpPr>
            <p:cNvPr id="86" name="Google Shape;86;p4"/>
            <p:cNvGrpSpPr/>
            <p:nvPr/>
          </p:nvGrpSpPr>
          <p:grpSpPr>
            <a:xfrm>
              <a:off x="-2286000" y="2057400"/>
              <a:ext cx="1965960" cy="457201"/>
              <a:chOff x="-1828800" y="1314921"/>
              <a:chExt cx="1965960" cy="457201"/>
            </a:xfrm>
          </p:grpSpPr>
          <p:sp>
            <p:nvSpPr>
              <p:cNvPr id="87" name="Google Shape;87;p4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80B8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4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80B8E0"/>
                    </a:solidFill>
                    <a:latin typeface="Arial"/>
                    <a:ea typeface="Arial"/>
                    <a:cs typeface="Arial"/>
                    <a:sym typeface="Arial"/>
                  </a:rPr>
                  <a:t>Light Blue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80B8E0"/>
                    </a:solidFill>
                    <a:latin typeface="Arial"/>
                    <a:ea typeface="Arial"/>
                    <a:cs typeface="Arial"/>
                    <a:sym typeface="Arial"/>
                  </a:rPr>
                  <a:t>#80B8E0</a:t>
                </a:r>
                <a:endParaRPr/>
              </a:p>
            </p:txBody>
          </p:sp>
        </p:grpSp>
      </p:grpSp>
      <p:sp>
        <p:nvSpPr>
          <p:cNvPr id="89" name="Google Shape;89;p4"/>
          <p:cNvSpPr txBox="1"/>
          <p:nvPr>
            <p:ph idx="12" type="sldNum"/>
          </p:nvPr>
        </p:nvSpPr>
        <p:spPr>
          <a:xfrm>
            <a:off x="13986664" y="7671816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sz="1100">
                <a:solidFill>
                  <a:srgbClr val="7072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uds and clouds with numbers&#10;&#10;Description automatically generated" id="148" name="Google Shape;148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2"/>
          <p:cNvSpPr txBox="1"/>
          <p:nvPr>
            <p:ph type="title"/>
          </p:nvPr>
        </p:nvSpPr>
        <p:spPr>
          <a:xfrm>
            <a:off x="457200" y="1371600"/>
            <a:ext cx="13716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0" name="Google Shape;150;p12"/>
          <p:cNvGrpSpPr/>
          <p:nvPr/>
        </p:nvGrpSpPr>
        <p:grpSpPr>
          <a:xfrm>
            <a:off x="-2286000" y="1828800"/>
            <a:ext cx="1965960" cy="4572001"/>
            <a:chOff x="-2286000" y="1371600"/>
            <a:chExt cx="1965960" cy="4572001"/>
          </a:xfrm>
        </p:grpSpPr>
        <p:grpSp>
          <p:nvGrpSpPr>
            <p:cNvPr id="151" name="Google Shape;151;p12"/>
            <p:cNvGrpSpPr/>
            <p:nvPr/>
          </p:nvGrpSpPr>
          <p:grpSpPr>
            <a:xfrm>
              <a:off x="-2286000" y="1371600"/>
              <a:ext cx="1965960" cy="457201"/>
              <a:chOff x="-1828800" y="1314921"/>
              <a:chExt cx="1965960" cy="457201"/>
            </a:xfrm>
          </p:grpSpPr>
          <p:sp>
            <p:nvSpPr>
              <p:cNvPr id="152" name="Google Shape;152;p12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0070C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2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70C1"/>
                    </a:solidFill>
                    <a:latin typeface="Arial"/>
                    <a:ea typeface="Arial"/>
                    <a:cs typeface="Arial"/>
                    <a:sym typeface="Arial"/>
                  </a:rPr>
                  <a:t>Primary Blue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70C1"/>
                    </a:solidFill>
                    <a:latin typeface="Arial"/>
                    <a:ea typeface="Arial"/>
                    <a:cs typeface="Arial"/>
                    <a:sym typeface="Arial"/>
                  </a:rPr>
                  <a:t>#0070C1</a:t>
                </a:r>
                <a:endParaRPr/>
              </a:p>
            </p:txBody>
          </p:sp>
        </p:grpSp>
        <p:grpSp>
          <p:nvGrpSpPr>
            <p:cNvPr id="154" name="Google Shape;154;p12"/>
            <p:cNvGrpSpPr/>
            <p:nvPr/>
          </p:nvGrpSpPr>
          <p:grpSpPr>
            <a:xfrm>
              <a:off x="-2286000" y="2743200"/>
              <a:ext cx="1965960" cy="457201"/>
              <a:chOff x="-1828800" y="1314921"/>
              <a:chExt cx="1965960" cy="457201"/>
            </a:xfrm>
          </p:grpSpPr>
          <p:sp>
            <p:nvSpPr>
              <p:cNvPr id="155" name="Google Shape;155;p12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19417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2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194173"/>
                    </a:solidFill>
                    <a:latin typeface="Arial"/>
                    <a:ea typeface="Arial"/>
                    <a:cs typeface="Arial"/>
                    <a:sym typeface="Arial"/>
                  </a:rPr>
                  <a:t>ARM Blue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194173"/>
                    </a:solidFill>
                    <a:latin typeface="Arial"/>
                    <a:ea typeface="Arial"/>
                    <a:cs typeface="Arial"/>
                    <a:sym typeface="Arial"/>
                  </a:rPr>
                  <a:t>#194173</a:t>
                </a:r>
                <a:endParaRPr/>
              </a:p>
            </p:txBody>
          </p:sp>
        </p:grpSp>
        <p:grpSp>
          <p:nvGrpSpPr>
            <p:cNvPr id="157" name="Google Shape;157;p12"/>
            <p:cNvGrpSpPr/>
            <p:nvPr/>
          </p:nvGrpSpPr>
          <p:grpSpPr>
            <a:xfrm>
              <a:off x="-2286000" y="3429000"/>
              <a:ext cx="1965960" cy="457201"/>
              <a:chOff x="-1828800" y="1314921"/>
              <a:chExt cx="1965960" cy="457201"/>
            </a:xfrm>
          </p:grpSpPr>
          <p:sp>
            <p:nvSpPr>
              <p:cNvPr id="158" name="Google Shape;158;p12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00BD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2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BD70"/>
                    </a:solidFill>
                    <a:latin typeface="Arial"/>
                    <a:ea typeface="Arial"/>
                    <a:cs typeface="Arial"/>
                    <a:sym typeface="Arial"/>
                  </a:rPr>
                  <a:t>ARM Green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BD70"/>
                    </a:solidFill>
                    <a:latin typeface="Arial"/>
                    <a:ea typeface="Arial"/>
                    <a:cs typeface="Arial"/>
                    <a:sym typeface="Arial"/>
                  </a:rPr>
                  <a:t>#00BD70</a:t>
                </a:r>
                <a:endParaRPr/>
              </a:p>
            </p:txBody>
          </p:sp>
        </p:grpSp>
        <p:grpSp>
          <p:nvGrpSpPr>
            <p:cNvPr id="160" name="Google Shape;160;p12"/>
            <p:cNvGrpSpPr/>
            <p:nvPr/>
          </p:nvGrpSpPr>
          <p:grpSpPr>
            <a:xfrm>
              <a:off x="-2286000" y="4114800"/>
              <a:ext cx="1965960" cy="457201"/>
              <a:chOff x="-1828800" y="1314921"/>
              <a:chExt cx="1965960" cy="457201"/>
            </a:xfrm>
          </p:grpSpPr>
          <p:sp>
            <p:nvSpPr>
              <p:cNvPr id="161" name="Google Shape;161;p12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8282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2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828282"/>
                    </a:solidFill>
                    <a:latin typeface="Arial"/>
                    <a:ea typeface="Arial"/>
                    <a:cs typeface="Arial"/>
                    <a:sym typeface="Arial"/>
                  </a:rPr>
                  <a:t>Gray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828282"/>
                    </a:solidFill>
                    <a:latin typeface="Arial"/>
                    <a:ea typeface="Arial"/>
                    <a:cs typeface="Arial"/>
                    <a:sym typeface="Arial"/>
                  </a:rPr>
                  <a:t>#828282</a:t>
                </a:r>
                <a:endParaRPr/>
              </a:p>
            </p:txBody>
          </p:sp>
        </p:grpSp>
        <p:grpSp>
          <p:nvGrpSpPr>
            <p:cNvPr id="163" name="Google Shape;163;p12"/>
            <p:cNvGrpSpPr/>
            <p:nvPr/>
          </p:nvGrpSpPr>
          <p:grpSpPr>
            <a:xfrm>
              <a:off x="-2286000" y="4800600"/>
              <a:ext cx="1965960" cy="457201"/>
              <a:chOff x="-1828800" y="1314921"/>
              <a:chExt cx="1965960" cy="457201"/>
            </a:xfrm>
          </p:grpSpPr>
          <p:sp>
            <p:nvSpPr>
              <p:cNvPr id="164" name="Google Shape;164;p12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2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Black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#000000</a:t>
                </a:r>
                <a:endParaRPr/>
              </a:p>
            </p:txBody>
          </p:sp>
        </p:grpSp>
        <p:grpSp>
          <p:nvGrpSpPr>
            <p:cNvPr id="166" name="Google Shape;166;p12"/>
            <p:cNvGrpSpPr/>
            <p:nvPr/>
          </p:nvGrpSpPr>
          <p:grpSpPr>
            <a:xfrm>
              <a:off x="-2286000" y="5486400"/>
              <a:ext cx="1965960" cy="457201"/>
              <a:chOff x="-1828800" y="1314921"/>
              <a:chExt cx="1965960" cy="457201"/>
            </a:xfrm>
          </p:grpSpPr>
          <p:sp>
            <p:nvSpPr>
              <p:cNvPr id="167" name="Google Shape;167;p12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2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White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BFBFBF"/>
                    </a:solidFill>
                    <a:latin typeface="Arial"/>
                    <a:ea typeface="Arial"/>
                    <a:cs typeface="Arial"/>
                    <a:sym typeface="Arial"/>
                  </a:rPr>
                  <a:t>#FFFFFF</a:t>
                </a:r>
                <a:endParaRPr/>
              </a:p>
            </p:txBody>
          </p:sp>
        </p:grpSp>
        <p:grpSp>
          <p:nvGrpSpPr>
            <p:cNvPr id="169" name="Google Shape;169;p12"/>
            <p:cNvGrpSpPr/>
            <p:nvPr/>
          </p:nvGrpSpPr>
          <p:grpSpPr>
            <a:xfrm>
              <a:off x="-2286000" y="2057400"/>
              <a:ext cx="1965960" cy="457201"/>
              <a:chOff x="-1828800" y="1314921"/>
              <a:chExt cx="1965960" cy="457201"/>
            </a:xfrm>
          </p:grpSpPr>
          <p:sp>
            <p:nvSpPr>
              <p:cNvPr id="170" name="Google Shape;170;p12"/>
              <p:cNvSpPr/>
              <p:nvPr/>
            </p:nvSpPr>
            <p:spPr>
              <a:xfrm>
                <a:off x="-1828800" y="1314922"/>
                <a:ext cx="457200" cy="457200"/>
              </a:xfrm>
              <a:prstGeom prst="rect">
                <a:avLst/>
              </a:prstGeom>
              <a:solidFill>
                <a:srgbClr val="80B8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6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2"/>
              <p:cNvSpPr txBox="1"/>
              <p:nvPr/>
            </p:nvSpPr>
            <p:spPr>
              <a:xfrm>
                <a:off x="-1234440" y="131492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80B8E0"/>
                    </a:solidFill>
                    <a:latin typeface="Arial"/>
                    <a:ea typeface="Arial"/>
                    <a:cs typeface="Arial"/>
                    <a:sym typeface="Arial"/>
                  </a:rPr>
                  <a:t>Light Blue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80B8E0"/>
                    </a:solidFill>
                    <a:latin typeface="Arial"/>
                    <a:ea typeface="Arial"/>
                    <a:cs typeface="Arial"/>
                    <a:sym typeface="Arial"/>
                  </a:rPr>
                  <a:t>#80B8E0</a:t>
                </a:r>
                <a:endParaRPr/>
              </a:p>
            </p:txBody>
          </p:sp>
        </p:grpSp>
      </p:grpSp>
      <p:sp>
        <p:nvSpPr>
          <p:cNvPr id="172" name="Google Shape;172;p12"/>
          <p:cNvSpPr txBox="1"/>
          <p:nvPr>
            <p:ph idx="11" type="ftr"/>
          </p:nvPr>
        </p:nvSpPr>
        <p:spPr>
          <a:xfrm>
            <a:off x="4389121" y="7671816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12"/>
          <p:cNvSpPr txBox="1"/>
          <p:nvPr>
            <p:ph idx="10" type="dt"/>
          </p:nvPr>
        </p:nvSpPr>
        <p:spPr>
          <a:xfrm>
            <a:off x="10972800" y="767181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12"/>
          <p:cNvSpPr txBox="1"/>
          <p:nvPr>
            <p:ph idx="12" type="sldNum"/>
          </p:nvPr>
        </p:nvSpPr>
        <p:spPr>
          <a:xfrm>
            <a:off x="13986664" y="7671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1" sz="11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5" name="Google Shape;175;p12"/>
          <p:cNvCxnSpPr/>
          <p:nvPr/>
        </p:nvCxnSpPr>
        <p:spPr>
          <a:xfrm>
            <a:off x="13761720" y="7772400"/>
            <a:ext cx="0" cy="173736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0.jpg"/><Relationship Id="rId6" Type="http://schemas.openxmlformats.org/officeDocument/2006/relationships/image" Target="../media/image13.png"/><Relationship Id="rId7" Type="http://schemas.openxmlformats.org/officeDocument/2006/relationships/image" Target="../media/image11.jp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52.png"/><Relationship Id="rId7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png"/><Relationship Id="rId4" Type="http://schemas.openxmlformats.org/officeDocument/2006/relationships/image" Target="../media/image6.png"/><Relationship Id="rId5" Type="http://schemas.openxmlformats.org/officeDocument/2006/relationships/image" Target="../media/image35.png"/><Relationship Id="rId6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Relationship Id="rId4" Type="http://schemas.openxmlformats.org/officeDocument/2006/relationships/image" Target="../media/image6.png"/><Relationship Id="rId5" Type="http://schemas.openxmlformats.org/officeDocument/2006/relationships/image" Target="../media/image32.png"/><Relationship Id="rId6" Type="http://schemas.openxmlformats.org/officeDocument/2006/relationships/image" Target="../media/image4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png"/><Relationship Id="rId4" Type="http://schemas.openxmlformats.org/officeDocument/2006/relationships/image" Target="../media/image6.png"/><Relationship Id="rId5" Type="http://schemas.openxmlformats.org/officeDocument/2006/relationships/image" Target="../media/image32.png"/><Relationship Id="rId6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Relationship Id="rId4" Type="http://schemas.openxmlformats.org/officeDocument/2006/relationships/image" Target="../media/image6.png"/><Relationship Id="rId5" Type="http://schemas.openxmlformats.org/officeDocument/2006/relationships/image" Target="../media/image32.png"/><Relationship Id="rId6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Relationship Id="rId4" Type="http://schemas.openxmlformats.org/officeDocument/2006/relationships/image" Target="../media/image6.png"/><Relationship Id="rId5" Type="http://schemas.openxmlformats.org/officeDocument/2006/relationships/image" Target="../media/image32.png"/><Relationship Id="rId6" Type="http://schemas.openxmlformats.org/officeDocument/2006/relationships/image" Target="../media/image5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8.png"/><Relationship Id="rId4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4.png"/><Relationship Id="rId4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Relationship Id="rId4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Relationship Id="rId4" Type="http://schemas.openxmlformats.org/officeDocument/2006/relationships/image" Target="../media/image45.png"/><Relationship Id="rId5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5.png"/><Relationship Id="rId4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5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9.png"/><Relationship Id="rId4" Type="http://schemas.openxmlformats.org/officeDocument/2006/relationships/hyperlink" Target="mailto:garbulet@ornl.gov" TargetMode="External"/><Relationship Id="rId5" Type="http://schemas.openxmlformats.org/officeDocument/2006/relationships/hyperlink" Target="mailto:shahch@ornl.gov" TargetMode="External"/><Relationship Id="rId6" Type="http://schemas.openxmlformats.org/officeDocument/2006/relationships/hyperlink" Target="mailto:aguilaral@ornl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idx="10" type="dt"/>
          </p:nvPr>
        </p:nvSpPr>
        <p:spPr>
          <a:xfrm>
            <a:off x="10972800" y="767181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July 11, 2025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0" y="2747700"/>
            <a:ext cx="146304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300" lIns="274300" spcFirstLastPara="1" rIns="274300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</a:rPr>
              <a:t>Accelerating scientific data releases: Automated metadata generation with LLM agents</a:t>
            </a:r>
            <a:endParaRPr b="1" sz="4200">
              <a:solidFill>
                <a:srgbClr val="FFFFFF"/>
              </a:solidFill>
            </a:endParaRPr>
          </a:p>
        </p:txBody>
      </p:sp>
      <p:pic>
        <p:nvPicPr>
          <p:cNvPr id="205" name="Google Shape;2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/>
          <p:nvPr>
            <p:ph type="title"/>
          </p:nvPr>
        </p:nvSpPr>
        <p:spPr>
          <a:xfrm>
            <a:off x="457200" y="241402"/>
            <a:ext cx="1097280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About Us</a:t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1154900" y="2789100"/>
            <a:ext cx="2343000" cy="3092700"/>
          </a:xfrm>
          <a:prstGeom prst="roundRect">
            <a:avLst>
              <a:gd fmla="val 6828" name="adj"/>
            </a:avLst>
          </a:prstGeom>
          <a:solidFill>
            <a:schemeClr val="accent4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280000" dist="38100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3" name="Google Shape;213;p17" title="Tudor.png"/>
          <p:cNvPicPr preferRelativeResize="0"/>
          <p:nvPr/>
        </p:nvPicPr>
        <p:blipFill rotWithShape="1">
          <a:blip r:embed="rId3">
            <a:alphaModFix/>
          </a:blip>
          <a:srcRect b="41990" l="14976" r="14976" t="7217"/>
          <a:stretch/>
        </p:blipFill>
        <p:spPr>
          <a:xfrm>
            <a:off x="1801776" y="3192458"/>
            <a:ext cx="1048800" cy="981900"/>
          </a:xfrm>
          <a:prstGeom prst="round1Rect">
            <a:avLst>
              <a:gd fmla="val 16667" name="adj"/>
            </a:avLst>
          </a:prstGeom>
          <a:solidFill>
            <a:srgbClr val="FAEEFF"/>
          </a:solidFill>
          <a:ln>
            <a:noFill/>
          </a:ln>
        </p:spPr>
      </p:pic>
      <p:sp>
        <p:nvSpPr>
          <p:cNvPr id="214" name="Google Shape;214;p17"/>
          <p:cNvSpPr txBox="1"/>
          <p:nvPr/>
        </p:nvSpPr>
        <p:spPr>
          <a:xfrm>
            <a:off x="1154910" y="4335367"/>
            <a:ext cx="23430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Tudor Garbulet</a:t>
            </a:r>
            <a:endParaRPr sz="1800">
              <a:solidFill>
                <a:schemeClr val="lt2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br>
              <a:rPr lang="en-US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Senior Software Engineer</a:t>
            </a:r>
            <a:endParaRPr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3721314" y="2789100"/>
            <a:ext cx="2343000" cy="3092700"/>
          </a:xfrm>
          <a:prstGeom prst="roundRect">
            <a:avLst>
              <a:gd fmla="val 6828" name="adj"/>
            </a:avLst>
          </a:prstGeom>
          <a:solidFill>
            <a:schemeClr val="accent4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280000" dist="38100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6" name="Google Shape;216;p17" title="Chirag.png"/>
          <p:cNvPicPr preferRelativeResize="0"/>
          <p:nvPr/>
        </p:nvPicPr>
        <p:blipFill rotWithShape="1">
          <a:blip r:embed="rId4">
            <a:alphaModFix/>
          </a:blip>
          <a:srcRect b="4669" l="0" r="0" t="4669"/>
          <a:stretch/>
        </p:blipFill>
        <p:spPr>
          <a:xfrm>
            <a:off x="4368219" y="3192458"/>
            <a:ext cx="1048800" cy="981900"/>
          </a:xfrm>
          <a:prstGeom prst="round1Rect">
            <a:avLst>
              <a:gd fmla="val 16667" name="adj"/>
            </a:avLst>
          </a:prstGeom>
          <a:solidFill>
            <a:srgbClr val="FAEEFF"/>
          </a:solidFill>
          <a:ln>
            <a:noFill/>
          </a:ln>
        </p:spPr>
      </p:pic>
      <p:sp>
        <p:nvSpPr>
          <p:cNvPr id="217" name="Google Shape;217;p17"/>
          <p:cNvSpPr txBox="1"/>
          <p:nvPr/>
        </p:nvSpPr>
        <p:spPr>
          <a:xfrm>
            <a:off x="3721303" y="4335367"/>
            <a:ext cx="23430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Chirag Shah</a:t>
            </a:r>
            <a:endParaRPr sz="1800">
              <a:solidFill>
                <a:schemeClr val="lt2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br>
              <a:rPr lang="en-US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Environmental </a:t>
            </a:r>
            <a:r>
              <a:rPr lang="en-US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Data Science Engineer</a:t>
            </a:r>
            <a:endParaRPr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6287728" y="2789100"/>
            <a:ext cx="2343000" cy="3092700"/>
          </a:xfrm>
          <a:prstGeom prst="roundRect">
            <a:avLst>
              <a:gd fmla="val 6828" name="adj"/>
            </a:avLst>
          </a:prstGeom>
          <a:solidFill>
            <a:schemeClr val="accent4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280000" dist="38100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9" name="Google Shape;219;p17" title="Austin_li.jpeg"/>
          <p:cNvPicPr preferRelativeResize="0"/>
          <p:nvPr/>
        </p:nvPicPr>
        <p:blipFill rotWithShape="1">
          <a:blip r:embed="rId5">
            <a:alphaModFix/>
          </a:blip>
          <a:srcRect b="9338" l="0" r="0" t="0"/>
          <a:stretch/>
        </p:blipFill>
        <p:spPr>
          <a:xfrm>
            <a:off x="6934618" y="3192458"/>
            <a:ext cx="1048800" cy="981900"/>
          </a:xfrm>
          <a:prstGeom prst="round1Rect">
            <a:avLst>
              <a:gd fmla="val 16667" name="adj"/>
            </a:avLst>
          </a:prstGeom>
          <a:solidFill>
            <a:srgbClr val="FAEE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0" name="Google Shape;220;p17"/>
          <p:cNvSpPr txBox="1"/>
          <p:nvPr/>
        </p:nvSpPr>
        <p:spPr>
          <a:xfrm>
            <a:off x="6287724" y="4335367"/>
            <a:ext cx="23430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Austin Aguilar</a:t>
            </a:r>
            <a:endParaRPr sz="1800">
              <a:solidFill>
                <a:schemeClr val="lt2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br>
              <a:rPr lang="en-US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Software Engineer</a:t>
            </a:r>
            <a:endParaRPr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8854142" y="2789100"/>
            <a:ext cx="2343000" cy="3092700"/>
          </a:xfrm>
          <a:prstGeom prst="roundRect">
            <a:avLst>
              <a:gd fmla="val 6828" name="adj"/>
            </a:avLst>
          </a:prstGeom>
          <a:solidFill>
            <a:schemeClr val="accent4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280000" dist="38100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2" name="Google Shape;222;p17" title="profile_nbg2.53a654c93104fe7f56b1.png"/>
          <p:cNvPicPr preferRelativeResize="0"/>
          <p:nvPr/>
        </p:nvPicPr>
        <p:blipFill rotWithShape="1">
          <a:blip r:embed="rId6">
            <a:alphaModFix/>
          </a:blip>
          <a:srcRect b="32752" l="0" r="0" t="16256"/>
          <a:stretch/>
        </p:blipFill>
        <p:spPr>
          <a:xfrm>
            <a:off x="9501046" y="3192458"/>
            <a:ext cx="1048800" cy="981900"/>
          </a:xfrm>
          <a:prstGeom prst="round1Rect">
            <a:avLst>
              <a:gd fmla="val 16667" name="adj"/>
            </a:avLst>
          </a:prstGeom>
          <a:solidFill>
            <a:srgbClr val="FAEEFF"/>
          </a:solidFill>
          <a:ln>
            <a:noFill/>
          </a:ln>
        </p:spPr>
      </p:pic>
      <p:sp>
        <p:nvSpPr>
          <p:cNvPr id="223" name="Google Shape;223;p17"/>
          <p:cNvSpPr txBox="1"/>
          <p:nvPr/>
        </p:nvSpPr>
        <p:spPr>
          <a:xfrm>
            <a:off x="8854145" y="4335367"/>
            <a:ext cx="23430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Quan Quy</a:t>
            </a:r>
            <a:endParaRPr sz="1800">
              <a:solidFill>
                <a:schemeClr val="lt2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br>
              <a:rPr lang="en-US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Research Intern</a:t>
            </a:r>
            <a:endParaRPr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11420555" y="2789100"/>
            <a:ext cx="2343000" cy="3092700"/>
          </a:xfrm>
          <a:prstGeom prst="roundRect">
            <a:avLst>
              <a:gd fmla="val 6828" name="adj"/>
            </a:avLst>
          </a:prstGeom>
          <a:solidFill>
            <a:schemeClr val="accent4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280000" dist="38100">
              <a:srgbClr val="000000">
                <a:alpha val="24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5" name="Google Shape;225;p17" title="Travis.jpeg"/>
          <p:cNvPicPr preferRelativeResize="0"/>
          <p:nvPr/>
        </p:nvPicPr>
        <p:blipFill rotWithShape="1">
          <a:blip r:embed="rId7">
            <a:alphaModFix/>
          </a:blip>
          <a:srcRect b="3993" l="0" r="0" t="3993"/>
          <a:stretch/>
        </p:blipFill>
        <p:spPr>
          <a:xfrm>
            <a:off x="12067460" y="3192458"/>
            <a:ext cx="1048800" cy="981900"/>
          </a:xfrm>
          <a:prstGeom prst="round1Rect">
            <a:avLst>
              <a:gd fmla="val 16667" name="adj"/>
            </a:avLst>
          </a:prstGeom>
          <a:solidFill>
            <a:srgbClr val="FAEEFF"/>
          </a:solidFill>
          <a:ln>
            <a:noFill/>
          </a:ln>
        </p:spPr>
      </p:pic>
      <p:sp>
        <p:nvSpPr>
          <p:cNvPr id="226" name="Google Shape;226;p17"/>
          <p:cNvSpPr txBox="1"/>
          <p:nvPr/>
        </p:nvSpPr>
        <p:spPr>
          <a:xfrm>
            <a:off x="11420566" y="4335367"/>
            <a:ext cx="23430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Travis Ping</a:t>
            </a:r>
            <a:endParaRPr sz="1800">
              <a:solidFill>
                <a:schemeClr val="lt2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br>
              <a:rPr lang="en-US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Research Intern</a:t>
            </a:r>
            <a:endParaRPr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7" name="Google Shape;22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7"/>
          <p:cNvSpPr txBox="1"/>
          <p:nvPr>
            <p:ph idx="2" type="body"/>
          </p:nvPr>
        </p:nvSpPr>
        <p:spPr>
          <a:xfrm>
            <a:off x="1154900" y="6298400"/>
            <a:ext cx="12608700" cy="9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Atmospheric Radiation Measurement (ARM) Data Center, Oak Ridge National Laboratory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Science Data Management, Core Science Systems, US Geological Survey 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Metadata?</a:t>
            </a:r>
            <a:endParaRPr/>
          </a:p>
        </p:txBody>
      </p:sp>
      <p:pic>
        <p:nvPicPr>
          <p:cNvPr id="235" name="Google Shape;2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 txBox="1"/>
          <p:nvPr>
            <p:ph idx="1" type="body"/>
          </p:nvPr>
        </p:nvSpPr>
        <p:spPr>
          <a:xfrm>
            <a:off x="457200" y="1828800"/>
            <a:ext cx="12032400" cy="54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Describes information about data, including:</a:t>
            </a:r>
            <a:endParaRPr>
              <a:solidFill>
                <a:schemeClr val="accent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•"/>
            </a:pPr>
            <a:r>
              <a:rPr lang="en-US" sz="2500">
                <a:solidFill>
                  <a:schemeClr val="accent1"/>
                </a:solidFill>
              </a:rPr>
              <a:t>who</a:t>
            </a:r>
            <a:endParaRPr sz="2500">
              <a:solidFill>
                <a:schemeClr val="accent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•"/>
            </a:pPr>
            <a:r>
              <a:rPr lang="en-US" sz="2500">
                <a:solidFill>
                  <a:schemeClr val="accent1"/>
                </a:solidFill>
              </a:rPr>
              <a:t>what</a:t>
            </a:r>
            <a:endParaRPr sz="2500">
              <a:solidFill>
                <a:schemeClr val="accent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•"/>
            </a:pPr>
            <a:r>
              <a:rPr lang="en-US" sz="2500">
                <a:solidFill>
                  <a:schemeClr val="accent1"/>
                </a:solidFill>
              </a:rPr>
              <a:t>where </a:t>
            </a:r>
            <a:endParaRPr sz="2500">
              <a:solidFill>
                <a:schemeClr val="accent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•"/>
            </a:pPr>
            <a:r>
              <a:rPr lang="en-US" sz="2500">
                <a:solidFill>
                  <a:schemeClr val="accent1"/>
                </a:solidFill>
              </a:rPr>
              <a:t>when</a:t>
            </a:r>
            <a:endParaRPr sz="2500">
              <a:solidFill>
                <a:schemeClr val="accent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•"/>
            </a:pPr>
            <a:r>
              <a:rPr lang="en-US" sz="2500">
                <a:solidFill>
                  <a:schemeClr val="accent1"/>
                </a:solidFill>
              </a:rPr>
              <a:t>why, and</a:t>
            </a:r>
            <a:endParaRPr sz="2500">
              <a:solidFill>
                <a:schemeClr val="accent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•"/>
            </a:pPr>
            <a:r>
              <a:rPr lang="en-US" sz="2500">
                <a:solidFill>
                  <a:schemeClr val="accent1"/>
                </a:solidFill>
              </a:rPr>
              <a:t>how, so it can be understood, re-used, and integrated with other data</a:t>
            </a:r>
            <a:endParaRPr sz="2500"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Follows standard formats to enable interoperability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do we need Metadata?</a:t>
            </a:r>
            <a:endParaRPr/>
          </a:p>
        </p:txBody>
      </p:sp>
      <p:sp>
        <p:nvSpPr>
          <p:cNvPr id="243" name="Google Shape;243;p19"/>
          <p:cNvSpPr txBox="1"/>
          <p:nvPr>
            <p:ph idx="2" type="body"/>
          </p:nvPr>
        </p:nvSpPr>
        <p:spPr>
          <a:xfrm>
            <a:off x="374345" y="1709725"/>
            <a:ext cx="6583800" cy="54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Crucial for any use or reuse of data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Explains how the data were created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Where/why it is geographically located 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Details about the structure of the data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244" name="Google Shape;244;p19"/>
          <p:cNvPicPr preferRelativeResize="0"/>
          <p:nvPr/>
        </p:nvPicPr>
        <p:blipFill rotWithShape="1">
          <a:blip r:embed="rId3">
            <a:alphaModFix/>
          </a:blip>
          <a:srcRect b="30641" l="41763" r="3327" t="11501"/>
          <a:stretch/>
        </p:blipFill>
        <p:spPr>
          <a:xfrm>
            <a:off x="6821850" y="3063425"/>
            <a:ext cx="8053002" cy="38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are the uses of Metadata?</a:t>
            </a:r>
            <a:endParaRPr/>
          </a:p>
        </p:txBody>
      </p:sp>
      <p:pic>
        <p:nvPicPr>
          <p:cNvPr id="252" name="Google Shape;252;p20"/>
          <p:cNvPicPr preferRelativeResize="0"/>
          <p:nvPr/>
        </p:nvPicPr>
        <p:blipFill rotWithShape="1">
          <a:blip r:embed="rId3">
            <a:alphaModFix/>
          </a:blip>
          <a:srcRect b="45088" l="16778" r="32563" t="11622"/>
          <a:stretch/>
        </p:blipFill>
        <p:spPr>
          <a:xfrm>
            <a:off x="7383037" y="2427838"/>
            <a:ext cx="8061000" cy="42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 txBox="1"/>
          <p:nvPr>
            <p:ph idx="1" type="body"/>
          </p:nvPr>
        </p:nvSpPr>
        <p:spPr>
          <a:xfrm>
            <a:off x="457200" y="1828800"/>
            <a:ext cx="6583800" cy="54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Enabling data discovery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Understanding data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Analysis and synthesis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Maintaining data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Tracking progress of a research project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Demonstrating return on investment for research at an institution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Different Metadata Standards</a:t>
            </a:r>
            <a:endParaRPr/>
          </a:p>
        </p:txBody>
      </p:sp>
      <p:pic>
        <p:nvPicPr>
          <p:cNvPr id="261" name="Google Shape;261;p21"/>
          <p:cNvPicPr preferRelativeResize="0"/>
          <p:nvPr/>
        </p:nvPicPr>
        <p:blipFill rotWithShape="1">
          <a:blip r:embed="rId3">
            <a:alphaModFix/>
          </a:blip>
          <a:srcRect b="25576" l="5608" r="38637" t="22972"/>
          <a:stretch/>
        </p:blipFill>
        <p:spPr>
          <a:xfrm>
            <a:off x="7326850" y="1830450"/>
            <a:ext cx="7891103" cy="548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457200" y="1828800"/>
            <a:ext cx="6583800" cy="54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Content Standard for Digital Geospatial Metadata (CSDGM) or its extensions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International Organization for Standardization (ISO) series of standards (19115, 19115-2, 19139, etc.)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Data Catalog Vocabulary (DCAT)</a:t>
            </a:r>
            <a:endParaRPr>
              <a:solidFill>
                <a:schemeClr val="accen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Metadata</a:t>
            </a:r>
            <a:r>
              <a:rPr lang="en-US"/>
              <a:t> Management &amp; Creation</a:t>
            </a:r>
            <a:endParaRPr/>
          </a:p>
        </p:txBody>
      </p:sp>
      <p:pic>
        <p:nvPicPr>
          <p:cNvPr id="270" name="Google Shape;270;p22"/>
          <p:cNvPicPr preferRelativeResize="0"/>
          <p:nvPr/>
        </p:nvPicPr>
        <p:blipFill rotWithShape="1">
          <a:blip r:embed="rId3">
            <a:alphaModFix/>
          </a:blip>
          <a:srcRect b="26399" l="39046" r="4955" t="23799"/>
          <a:stretch/>
        </p:blipFill>
        <p:spPr>
          <a:xfrm>
            <a:off x="7041000" y="1961200"/>
            <a:ext cx="7429724" cy="497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>
            <p:ph idx="1" type="body"/>
          </p:nvPr>
        </p:nvSpPr>
        <p:spPr>
          <a:xfrm>
            <a:off x="457200" y="1828800"/>
            <a:ext cx="6583800" cy="54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Use different tools such as Metadata Wizard, mdEditor, Online Metadata Editor (OME), Microsoft XML Notepad, etc. to create metadata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Involves best practices to ensure accuracy 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Requires validation to meet institutional or domain-specific needs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 - USGS</a:t>
            </a:r>
            <a:endParaRPr/>
          </a:p>
        </p:txBody>
      </p:sp>
      <p:sp>
        <p:nvSpPr>
          <p:cNvPr id="279" name="Google Shape;279;p23"/>
          <p:cNvSpPr txBox="1"/>
          <p:nvPr>
            <p:ph idx="1" type="body"/>
          </p:nvPr>
        </p:nvSpPr>
        <p:spPr>
          <a:xfrm>
            <a:off x="457200" y="1828800"/>
            <a:ext cx="6583800" cy="54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>
                <a:solidFill>
                  <a:schemeClr val="accent1"/>
                </a:solidFill>
              </a:rPr>
              <a:t>Metadata Creation</a:t>
            </a:r>
            <a:endParaRPr>
              <a:solidFill>
                <a:schemeClr val="accent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>
                <a:solidFill>
                  <a:schemeClr val="accent1"/>
                </a:solidFill>
              </a:rPr>
              <a:t>Metadata Standards</a:t>
            </a:r>
            <a:endParaRPr>
              <a:solidFill>
                <a:schemeClr val="accent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>
                <a:solidFill>
                  <a:schemeClr val="accent1"/>
                </a:solidFill>
              </a:rPr>
              <a:t>Tools for creating Metadata</a:t>
            </a:r>
            <a:endParaRPr>
              <a:solidFill>
                <a:schemeClr val="accent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>
                <a:solidFill>
                  <a:schemeClr val="accent1"/>
                </a:solidFill>
              </a:rPr>
              <a:t>Best Practices for Metadata</a:t>
            </a:r>
            <a:endParaRPr>
              <a:solidFill>
                <a:schemeClr val="accent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>
                <a:solidFill>
                  <a:schemeClr val="accent1"/>
                </a:solidFill>
              </a:rPr>
              <a:t>Validating Metadata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280" name="Google Shape;280;p23"/>
          <p:cNvPicPr preferRelativeResize="0"/>
          <p:nvPr/>
        </p:nvPicPr>
        <p:blipFill rotWithShape="1">
          <a:blip r:embed="rId3">
            <a:alphaModFix/>
          </a:blip>
          <a:srcRect b="13331" l="10344" r="5074" t="5677"/>
          <a:stretch/>
        </p:blipFill>
        <p:spPr>
          <a:xfrm>
            <a:off x="4716400" y="1828800"/>
            <a:ext cx="10019850" cy="475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>
            <p:ph idx="2" type="body"/>
          </p:nvPr>
        </p:nvSpPr>
        <p:spPr>
          <a:xfrm>
            <a:off x="7589520" y="1828800"/>
            <a:ext cx="6583800" cy="54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 Metadata…</a:t>
            </a:r>
            <a:endParaRPr/>
          </a:p>
        </p:txBody>
      </p:sp>
      <p:pic>
        <p:nvPicPr>
          <p:cNvPr id="289" name="Google Shape;289;p24"/>
          <p:cNvPicPr preferRelativeResize="0"/>
          <p:nvPr/>
        </p:nvPicPr>
        <p:blipFill rotWithShape="1">
          <a:blip r:embed="rId3">
            <a:alphaModFix/>
          </a:blip>
          <a:srcRect b="13331" l="10344" r="5074" t="5677"/>
          <a:stretch/>
        </p:blipFill>
        <p:spPr>
          <a:xfrm>
            <a:off x="2228000" y="1828800"/>
            <a:ext cx="10019850" cy="475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68338"/>
            <a:ext cx="8780250" cy="6761262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USGS Use Case: </a:t>
            </a:r>
            <a:br>
              <a:rPr lang="en-US"/>
            </a:br>
            <a:r>
              <a:rPr lang="en-US"/>
              <a:t>Zebra mussels eradication treatment dataset</a:t>
            </a:r>
            <a:endParaRPr/>
          </a:p>
        </p:txBody>
      </p:sp>
      <p:pic>
        <p:nvPicPr>
          <p:cNvPr id="298" name="Google Shape;298;p25"/>
          <p:cNvPicPr preferRelativeResize="0"/>
          <p:nvPr/>
        </p:nvPicPr>
        <p:blipFill rotWithShape="1">
          <a:blip r:embed="rId4">
            <a:alphaModFix/>
          </a:blip>
          <a:srcRect b="0" l="2263" r="2652" t="0"/>
          <a:stretch/>
        </p:blipFill>
        <p:spPr>
          <a:xfrm>
            <a:off x="0" y="5029375"/>
            <a:ext cx="3698975" cy="320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5"/>
          <p:cNvPicPr preferRelativeResize="0"/>
          <p:nvPr/>
        </p:nvPicPr>
        <p:blipFill rotWithShape="1">
          <a:blip r:embed="rId5">
            <a:alphaModFix/>
          </a:blip>
          <a:srcRect b="0" l="4354" r="5303" t="0"/>
          <a:stretch/>
        </p:blipFill>
        <p:spPr>
          <a:xfrm>
            <a:off x="6561175" y="1468350"/>
            <a:ext cx="2219075" cy="365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5" title="Screenshot 2025-07-10 at 2.56.43 PM.png"/>
          <p:cNvPicPr preferRelativeResize="0"/>
          <p:nvPr/>
        </p:nvPicPr>
        <p:blipFill rotWithShape="1">
          <a:blip r:embed="rId6">
            <a:alphaModFix/>
          </a:blip>
          <a:srcRect b="626" l="0" r="19341" t="0"/>
          <a:stretch/>
        </p:blipFill>
        <p:spPr>
          <a:xfrm>
            <a:off x="8780250" y="1468350"/>
            <a:ext cx="5850148" cy="676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Existing Creation Workflow</a:t>
            </a:r>
            <a:endParaRPr/>
          </a:p>
        </p:txBody>
      </p:sp>
      <p:pic>
        <p:nvPicPr>
          <p:cNvPr id="308" name="Google Shape;30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6" title="USGS M Workfl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470525"/>
            <a:ext cx="14630400" cy="675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6"/>
          <p:cNvSpPr txBox="1"/>
          <p:nvPr/>
        </p:nvSpPr>
        <p:spPr>
          <a:xfrm>
            <a:off x="9748800" y="7829400"/>
            <a:ext cx="488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Source: </a:t>
            </a:r>
            <a:r>
              <a:rPr lang="en-US">
                <a:solidFill>
                  <a:schemeClr val="dk2"/>
                </a:solidFill>
              </a:rPr>
              <a:t>https://www.usgs.gov/data-management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Problem?</a:t>
            </a:r>
            <a:endParaRPr/>
          </a:p>
        </p:txBody>
      </p:sp>
      <p:pic>
        <p:nvPicPr>
          <p:cNvPr id="317" name="Google Shape;3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3825" y="939050"/>
            <a:ext cx="9941573" cy="999524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 txBox="1"/>
          <p:nvPr/>
        </p:nvSpPr>
        <p:spPr>
          <a:xfrm>
            <a:off x="2750363" y="1500200"/>
            <a:ext cx="101085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</a:rPr>
              <a:t>How to effectively manage and automate Metadata creation?</a:t>
            </a:r>
            <a:endParaRPr sz="2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Automate it? </a:t>
            </a:r>
            <a:endParaRPr/>
          </a:p>
        </p:txBody>
      </p:sp>
      <p:pic>
        <p:nvPicPr>
          <p:cNvPr id="326" name="Google Shape;326;p28" title="_- visual selection (2).png"/>
          <p:cNvPicPr preferRelativeResize="0"/>
          <p:nvPr/>
        </p:nvPicPr>
        <p:blipFill rotWithShape="1">
          <a:blip r:embed="rId3">
            <a:alphaModFix/>
          </a:blip>
          <a:srcRect b="5628" l="0" r="0" t="1026"/>
          <a:stretch/>
        </p:blipFill>
        <p:spPr>
          <a:xfrm>
            <a:off x="2129125" y="1007100"/>
            <a:ext cx="10869699" cy="82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9"/>
          <p:cNvPicPr preferRelativeResize="0"/>
          <p:nvPr/>
        </p:nvPicPr>
        <p:blipFill rotWithShape="1">
          <a:blip r:embed="rId3">
            <a:alphaModFix/>
          </a:blip>
          <a:srcRect b="7799" l="4011" r="2487" t="12290"/>
          <a:stretch/>
        </p:blipFill>
        <p:spPr>
          <a:xfrm>
            <a:off x="3396700" y="1283900"/>
            <a:ext cx="11199590" cy="694570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9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can generative AI help?</a:t>
            </a:r>
            <a:endParaRPr/>
          </a:p>
        </p:txBody>
      </p:sp>
      <p:sp>
        <p:nvSpPr>
          <p:cNvPr id="335" name="Google Shape;335;p29"/>
          <p:cNvSpPr txBox="1"/>
          <p:nvPr/>
        </p:nvSpPr>
        <p:spPr>
          <a:xfrm>
            <a:off x="276800" y="1738325"/>
            <a:ext cx="5569200" cy="2055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</a:rPr>
              <a:t>By extracting relevant </a:t>
            </a:r>
            <a:r>
              <a:rPr lang="en-US" sz="1800">
                <a:solidFill>
                  <a:schemeClr val="accent1"/>
                </a:solidFill>
              </a:rPr>
              <a:t>information and leveraging it within a fine-tuned large language model (LLM). This model uses the gathered details in conjunction with predefined metadata templates, enabling it to </a:t>
            </a:r>
            <a:r>
              <a:rPr lang="en-US" sz="1800">
                <a:solidFill>
                  <a:schemeClr val="accent1"/>
                </a:solidFill>
              </a:rPr>
              <a:t>autonomously</a:t>
            </a:r>
            <a:r>
              <a:rPr lang="en-US" sz="1800">
                <a:solidFill>
                  <a:schemeClr val="accent1"/>
                </a:solidFill>
              </a:rPr>
              <a:t> generate a draft metadata file that adheres to compliance </a:t>
            </a:r>
            <a:r>
              <a:rPr lang="en-US" sz="1800">
                <a:solidFill>
                  <a:schemeClr val="accent1"/>
                </a:solidFill>
              </a:rPr>
              <a:t>standards.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4617000" y="4746175"/>
            <a:ext cx="4061400" cy="1391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7" name="Google Shape;337;p29"/>
          <p:cNvCxnSpPr>
            <a:stCxn id="335" idx="2"/>
            <a:endCxn id="336" idx="1"/>
          </p:cNvCxnSpPr>
          <p:nvPr/>
        </p:nvCxnSpPr>
        <p:spPr>
          <a:xfrm>
            <a:off x="3061400" y="3793325"/>
            <a:ext cx="1555500" cy="1648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stealth"/>
            <a:tailEnd len="med" w="med" type="none"/>
          </a:ln>
        </p:spPr>
      </p:cxnSp>
      <p:pic>
        <p:nvPicPr>
          <p:cNvPr id="338" name="Google Shape;33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0" title="Flowchart (10).png"/>
          <p:cNvPicPr preferRelativeResize="0"/>
          <p:nvPr/>
        </p:nvPicPr>
        <p:blipFill rotWithShape="1">
          <a:blip r:embed="rId3">
            <a:alphaModFix/>
          </a:blip>
          <a:srcRect b="19894" l="6752" r="9051" t="12368"/>
          <a:stretch/>
        </p:blipFill>
        <p:spPr>
          <a:xfrm>
            <a:off x="4094725" y="2063158"/>
            <a:ext cx="10535675" cy="492641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0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Initial Research</a:t>
            </a:r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164900" y="1911775"/>
            <a:ext cx="4191300" cy="5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accent1"/>
              </a:solidFill>
            </a:endParaRPr>
          </a:p>
          <a:p>
            <a:pPr indent="-310515" lvl="0" marL="3200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950">
                <a:solidFill>
                  <a:schemeClr val="accent1"/>
                </a:solidFill>
              </a:rPr>
              <a:t>Datasets:</a:t>
            </a:r>
            <a:r>
              <a:rPr lang="en-US" sz="1850">
                <a:solidFill>
                  <a:schemeClr val="accent1"/>
                </a:solidFill>
              </a:rPr>
              <a:t> </a:t>
            </a:r>
            <a:endParaRPr sz="1850">
              <a:solidFill>
                <a:schemeClr val="accent1"/>
              </a:solidFill>
            </a:endParaRPr>
          </a:p>
          <a:p>
            <a:pPr indent="-346075" lvl="1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b="1" lang="en-US" sz="1850">
                <a:solidFill>
                  <a:schemeClr val="accent1"/>
                </a:solidFill>
              </a:rPr>
              <a:t>12,000</a:t>
            </a:r>
            <a:r>
              <a:rPr lang="en-US" sz="1850">
                <a:solidFill>
                  <a:schemeClr val="accent1"/>
                </a:solidFill>
              </a:rPr>
              <a:t> USGS ScienceBase records </a:t>
            </a:r>
            <a:br>
              <a:rPr lang="en-US" sz="1850">
                <a:solidFill>
                  <a:schemeClr val="accent1"/>
                </a:solidFill>
              </a:rPr>
            </a:br>
            <a:r>
              <a:rPr lang="en-US" sz="1850">
                <a:solidFill>
                  <a:schemeClr val="accent1"/>
                </a:solidFill>
              </a:rPr>
              <a:t>(Through ScienceBase API) </a:t>
            </a:r>
            <a:endParaRPr sz="1850">
              <a:solidFill>
                <a:schemeClr val="accent1"/>
              </a:solidFill>
            </a:endParaRPr>
          </a:p>
          <a:p>
            <a:pPr indent="-346075" lvl="1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850">
                <a:solidFill>
                  <a:schemeClr val="accent1"/>
                </a:solidFill>
              </a:rPr>
              <a:t>Total files downloaded: </a:t>
            </a:r>
            <a:br>
              <a:rPr lang="en-US" sz="1850">
                <a:solidFill>
                  <a:schemeClr val="accent1"/>
                </a:solidFill>
              </a:rPr>
            </a:br>
            <a:r>
              <a:rPr b="1" lang="en-US" sz="1850">
                <a:solidFill>
                  <a:schemeClr val="accent1"/>
                </a:solidFill>
              </a:rPr>
              <a:t>~577 GB</a:t>
            </a:r>
            <a:endParaRPr sz="1850">
              <a:solidFill>
                <a:schemeClr val="accent1"/>
              </a:solidFill>
            </a:endParaRPr>
          </a:p>
          <a:p>
            <a:pPr indent="-346075" lvl="1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850">
                <a:solidFill>
                  <a:schemeClr val="accent1"/>
                </a:solidFill>
              </a:rPr>
              <a:t>Train Rows (Tabular): </a:t>
            </a:r>
            <a:r>
              <a:rPr b="1" lang="en-US" sz="1850">
                <a:solidFill>
                  <a:schemeClr val="accent1"/>
                </a:solidFill>
              </a:rPr>
              <a:t>22,646</a:t>
            </a:r>
            <a:endParaRPr b="1" sz="1850">
              <a:solidFill>
                <a:schemeClr val="accent1"/>
              </a:solidFill>
            </a:endParaRPr>
          </a:p>
          <a:p>
            <a:pPr indent="-346075" lvl="2" marL="1371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850">
                <a:solidFill>
                  <a:schemeClr val="accent1"/>
                </a:solidFill>
              </a:rPr>
              <a:t>After further processing: </a:t>
            </a:r>
            <a:r>
              <a:rPr b="1" lang="en-US" sz="1850">
                <a:solidFill>
                  <a:schemeClr val="accent1"/>
                </a:solidFill>
              </a:rPr>
              <a:t>~70k-80k</a:t>
            </a:r>
            <a:endParaRPr b="1" sz="1850">
              <a:solidFill>
                <a:schemeClr val="accent1"/>
              </a:solidFill>
            </a:endParaRPr>
          </a:p>
          <a:p>
            <a:pPr indent="-346075" lvl="1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850">
                <a:solidFill>
                  <a:schemeClr val="accent1"/>
                </a:solidFill>
              </a:rPr>
              <a:t>Train Rows (Documents): </a:t>
            </a:r>
            <a:r>
              <a:rPr b="1" lang="en-US" sz="1850">
                <a:solidFill>
                  <a:schemeClr val="accent1"/>
                </a:solidFill>
              </a:rPr>
              <a:t>13,323</a:t>
            </a:r>
            <a:br>
              <a:rPr b="1" lang="en-US" sz="1850">
                <a:solidFill>
                  <a:schemeClr val="accent1"/>
                </a:solidFill>
              </a:rPr>
            </a:br>
            <a:endParaRPr b="1" sz="1850">
              <a:solidFill>
                <a:schemeClr val="accent1"/>
              </a:solidFill>
            </a:endParaRPr>
          </a:p>
          <a:p>
            <a:pPr indent="-346075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950">
                <a:solidFill>
                  <a:schemeClr val="accent1"/>
                </a:solidFill>
              </a:rPr>
              <a:t>Resources:</a:t>
            </a:r>
            <a:r>
              <a:rPr lang="en-US" sz="1850">
                <a:solidFill>
                  <a:schemeClr val="accent1"/>
                </a:solidFill>
              </a:rPr>
              <a:t> </a:t>
            </a:r>
            <a:endParaRPr sz="1850">
              <a:solidFill>
                <a:schemeClr val="accent1"/>
              </a:solidFill>
            </a:endParaRPr>
          </a:p>
          <a:p>
            <a:pPr indent="-334327" lvl="1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65"/>
              <a:buChar char="•"/>
            </a:pPr>
            <a:r>
              <a:rPr b="1" lang="en-US" sz="1850">
                <a:solidFill>
                  <a:schemeClr val="accent1"/>
                </a:solidFill>
              </a:rPr>
              <a:t>ARM Data Center (ADC) Cumulus (4 GPUs* | A100 80GB)</a:t>
            </a:r>
            <a:br>
              <a:rPr b="1" lang="en-US" sz="1850">
                <a:solidFill>
                  <a:schemeClr val="accent1"/>
                </a:solidFill>
              </a:rPr>
            </a:br>
            <a:endParaRPr b="1" sz="1850">
              <a:solidFill>
                <a:schemeClr val="accent1"/>
              </a:solidFill>
            </a:endParaRPr>
          </a:p>
          <a:p>
            <a:pPr indent="-34607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950">
                <a:solidFill>
                  <a:schemeClr val="accent1"/>
                </a:solidFill>
              </a:rPr>
              <a:t>LLMs:</a:t>
            </a:r>
            <a:r>
              <a:rPr lang="en-US" sz="1850">
                <a:solidFill>
                  <a:schemeClr val="accent1"/>
                </a:solidFill>
              </a:rPr>
              <a:t> </a:t>
            </a:r>
            <a:endParaRPr sz="1850">
              <a:solidFill>
                <a:schemeClr val="accent1"/>
              </a:solidFill>
            </a:endParaRPr>
          </a:p>
          <a:p>
            <a:pPr indent="-334327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5"/>
              <a:buChar char="•"/>
            </a:pPr>
            <a:r>
              <a:rPr b="1" lang="en-US" sz="1850">
                <a:solidFill>
                  <a:schemeClr val="accent1"/>
                </a:solidFill>
              </a:rPr>
              <a:t>LLaMA 3.1, 3.2, Mistral </a:t>
            </a:r>
            <a:endParaRPr b="1" sz="1850">
              <a:solidFill>
                <a:schemeClr val="accent1"/>
              </a:solidFill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9114625" y="2786973"/>
            <a:ext cx="16908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0190" lvl="0" marL="320040" rtl="0" algn="l"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900"/>
              <a:buChar char="•"/>
            </a:pPr>
            <a:r>
              <a:rPr lang="en-US" sz="900">
                <a:solidFill>
                  <a:srgbClr val="194170"/>
                </a:solidFill>
              </a:rPr>
              <a:t>Custom trained datasets</a:t>
            </a:r>
            <a:endParaRPr sz="900">
              <a:solidFill>
                <a:srgbClr val="194170"/>
              </a:solidFill>
            </a:endParaRPr>
          </a:p>
          <a:p>
            <a:pPr indent="-250190" lvl="0" marL="320040" rtl="0" algn="l"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900"/>
              <a:buChar char="•"/>
            </a:pPr>
            <a:r>
              <a:rPr lang="en-US" sz="900">
                <a:solidFill>
                  <a:srgbClr val="194170"/>
                </a:solidFill>
              </a:rPr>
              <a:t>Transfer learning</a:t>
            </a:r>
            <a:endParaRPr sz="900">
              <a:solidFill>
                <a:srgbClr val="194170"/>
              </a:solidFill>
            </a:endParaRPr>
          </a:p>
          <a:p>
            <a:pPr indent="-250190" lvl="0" marL="320040" rtl="0" algn="l"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900"/>
              <a:buChar char="•"/>
            </a:pPr>
            <a:r>
              <a:rPr lang="en-US" sz="900">
                <a:solidFill>
                  <a:srgbClr val="194170"/>
                </a:solidFill>
              </a:rPr>
              <a:t>Hyperparameters tuning </a:t>
            </a:r>
            <a:endParaRPr sz="900">
              <a:solidFill>
                <a:srgbClr val="194170"/>
              </a:solidFill>
            </a:endParaRPr>
          </a:p>
          <a:p>
            <a:pPr indent="-250190" lvl="0" marL="320040" rtl="0" algn="l"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900"/>
              <a:buChar char="•"/>
            </a:pPr>
            <a:r>
              <a:rPr lang="en-US" sz="900">
                <a:solidFill>
                  <a:srgbClr val="194170"/>
                </a:solidFill>
              </a:rPr>
              <a:t>LoRA/QLoRA quantization fine-tuning</a:t>
            </a:r>
            <a:endParaRPr sz="900">
              <a:solidFill>
                <a:srgbClr val="194170"/>
              </a:solidFill>
            </a:endParaRPr>
          </a:p>
        </p:txBody>
      </p:sp>
      <p:pic>
        <p:nvPicPr>
          <p:cNvPr id="348" name="Google Shape;34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 title="Flowchart (10).png"/>
          <p:cNvPicPr preferRelativeResize="0"/>
          <p:nvPr/>
        </p:nvPicPr>
        <p:blipFill rotWithShape="1">
          <a:blip r:embed="rId3">
            <a:alphaModFix/>
          </a:blip>
          <a:srcRect b="19894" l="6752" r="9051" t="12368"/>
          <a:stretch/>
        </p:blipFill>
        <p:spPr>
          <a:xfrm>
            <a:off x="4094725" y="2063158"/>
            <a:ext cx="10535675" cy="4926418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Limitation(s)?</a:t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86125" y="1456850"/>
            <a:ext cx="4008600" cy="59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accent1"/>
              </a:solidFill>
            </a:endParaRPr>
          </a:p>
          <a:p>
            <a:pPr indent="-310515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950">
                <a:solidFill>
                  <a:schemeClr val="accent1"/>
                </a:solidFill>
              </a:rPr>
              <a:t>Data requirements</a:t>
            </a:r>
            <a:endParaRPr sz="1950">
              <a:solidFill>
                <a:schemeClr val="accent1"/>
              </a:solidFill>
            </a:endParaRPr>
          </a:p>
          <a:p>
            <a:pPr indent="-3460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850">
                <a:solidFill>
                  <a:schemeClr val="accent1"/>
                </a:solidFill>
              </a:rPr>
              <a:t>Substantial amount of labeled data representing specific domain</a:t>
            </a:r>
            <a:endParaRPr sz="1850">
              <a:solidFill>
                <a:schemeClr val="accent1"/>
              </a:solidFill>
            </a:endParaRPr>
          </a:p>
          <a:p>
            <a:pPr indent="-310515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950">
                <a:solidFill>
                  <a:schemeClr val="accent1"/>
                </a:solidFill>
              </a:rPr>
              <a:t>Overfitting Risk</a:t>
            </a:r>
            <a:endParaRPr sz="1950">
              <a:solidFill>
                <a:schemeClr val="accent1"/>
              </a:solidFill>
            </a:endParaRPr>
          </a:p>
          <a:p>
            <a:pPr indent="-3460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850">
                <a:solidFill>
                  <a:schemeClr val="accent1"/>
                </a:solidFill>
              </a:rPr>
              <a:t>May perform poorly on unseen data</a:t>
            </a:r>
            <a:endParaRPr sz="1850">
              <a:solidFill>
                <a:schemeClr val="accent1"/>
              </a:solidFill>
            </a:endParaRPr>
          </a:p>
          <a:p>
            <a:pPr indent="-316865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Char char="•"/>
            </a:pPr>
            <a:r>
              <a:rPr lang="en-US" sz="1950">
                <a:solidFill>
                  <a:schemeClr val="accent1"/>
                </a:solidFill>
              </a:rPr>
              <a:t>Resource Intensive</a:t>
            </a:r>
            <a:endParaRPr sz="1950">
              <a:solidFill>
                <a:schemeClr val="accent1"/>
              </a:solidFill>
            </a:endParaRPr>
          </a:p>
          <a:p>
            <a:pPr indent="-33432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5"/>
              <a:buChar char="•"/>
            </a:pPr>
            <a:r>
              <a:rPr lang="en-US" sz="1850">
                <a:solidFill>
                  <a:schemeClr val="accent1"/>
                </a:solidFill>
              </a:rPr>
              <a:t>Longer training times and requiring </a:t>
            </a:r>
            <a:r>
              <a:rPr lang="en-US" sz="1850">
                <a:solidFill>
                  <a:schemeClr val="accent1"/>
                </a:solidFill>
              </a:rPr>
              <a:t>significant</a:t>
            </a:r>
            <a:r>
              <a:rPr lang="en-US" sz="1850">
                <a:solidFill>
                  <a:schemeClr val="accent1"/>
                </a:solidFill>
              </a:rPr>
              <a:t> hardware resources</a:t>
            </a:r>
            <a:endParaRPr sz="1850">
              <a:solidFill>
                <a:schemeClr val="accent1"/>
              </a:solidFill>
            </a:endParaRPr>
          </a:p>
          <a:p>
            <a:pPr indent="-316865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Char char="•"/>
            </a:pPr>
            <a:r>
              <a:rPr lang="en-US" sz="1950">
                <a:solidFill>
                  <a:schemeClr val="accent1"/>
                </a:solidFill>
              </a:rPr>
              <a:t>Model Size constraints</a:t>
            </a:r>
            <a:endParaRPr sz="1950">
              <a:solidFill>
                <a:schemeClr val="accent1"/>
              </a:solidFill>
            </a:endParaRPr>
          </a:p>
          <a:p>
            <a:pPr indent="-3460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850">
                <a:solidFill>
                  <a:schemeClr val="accent1"/>
                </a:solidFill>
              </a:rPr>
              <a:t>Difficult to manage</a:t>
            </a:r>
            <a:endParaRPr sz="1850">
              <a:solidFill>
                <a:schemeClr val="accent1"/>
              </a:solidFill>
            </a:endParaRPr>
          </a:p>
          <a:p>
            <a:pPr indent="-316865" lvl="0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Char char="•"/>
            </a:pPr>
            <a:r>
              <a:rPr lang="en-US" sz="1950">
                <a:solidFill>
                  <a:schemeClr val="accent1"/>
                </a:solidFill>
              </a:rPr>
              <a:t>Customization Cost</a:t>
            </a:r>
            <a:endParaRPr sz="1950">
              <a:solidFill>
                <a:schemeClr val="accent1"/>
              </a:solidFill>
            </a:endParaRPr>
          </a:p>
          <a:p>
            <a:pPr indent="-33432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5"/>
              <a:buChar char="•"/>
            </a:pPr>
            <a:r>
              <a:rPr lang="en-US" sz="1850">
                <a:solidFill>
                  <a:schemeClr val="accent1"/>
                </a:solidFill>
              </a:rPr>
              <a:t>Specific use case may involve a</a:t>
            </a:r>
            <a:r>
              <a:rPr lang="en-US" sz="1850">
                <a:solidFill>
                  <a:schemeClr val="accent1"/>
                </a:solidFill>
              </a:rPr>
              <a:t>dditional</a:t>
            </a:r>
            <a:r>
              <a:rPr lang="en-US" sz="1850">
                <a:solidFill>
                  <a:schemeClr val="accent1"/>
                </a:solidFill>
              </a:rPr>
              <a:t> engineering and </a:t>
            </a:r>
            <a:r>
              <a:rPr lang="en-US" sz="1850">
                <a:solidFill>
                  <a:schemeClr val="accent1"/>
                </a:solidFill>
              </a:rPr>
              <a:t>adjustments</a:t>
            </a:r>
            <a:r>
              <a:rPr lang="en-US" sz="1850">
                <a:solidFill>
                  <a:schemeClr val="accent1"/>
                </a:solidFill>
              </a:rPr>
              <a:t> </a:t>
            </a:r>
            <a:br>
              <a:rPr b="1" lang="en-US" sz="1850">
                <a:solidFill>
                  <a:schemeClr val="accent1"/>
                </a:solidFill>
              </a:rPr>
            </a:br>
            <a:r>
              <a:rPr b="1" lang="en-US" sz="1850">
                <a:solidFill>
                  <a:schemeClr val="accent1"/>
                </a:solidFill>
              </a:rPr>
              <a:t> </a:t>
            </a:r>
            <a:endParaRPr b="1" sz="1850">
              <a:solidFill>
                <a:schemeClr val="accent1"/>
              </a:solidFill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9114625" y="2786973"/>
            <a:ext cx="16908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0190" lvl="0" marL="320040" rtl="0" algn="l"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900"/>
              <a:buChar char="•"/>
            </a:pPr>
            <a:r>
              <a:rPr lang="en-US" sz="900">
                <a:solidFill>
                  <a:srgbClr val="194170"/>
                </a:solidFill>
              </a:rPr>
              <a:t>Custom trained datasets</a:t>
            </a:r>
            <a:endParaRPr sz="900">
              <a:solidFill>
                <a:srgbClr val="194170"/>
              </a:solidFill>
            </a:endParaRPr>
          </a:p>
          <a:p>
            <a:pPr indent="-250190" lvl="0" marL="320040" rtl="0" algn="l"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900"/>
              <a:buChar char="•"/>
            </a:pPr>
            <a:r>
              <a:rPr lang="en-US" sz="900">
                <a:solidFill>
                  <a:srgbClr val="194170"/>
                </a:solidFill>
              </a:rPr>
              <a:t>Transfer learning</a:t>
            </a:r>
            <a:endParaRPr sz="900">
              <a:solidFill>
                <a:srgbClr val="194170"/>
              </a:solidFill>
            </a:endParaRPr>
          </a:p>
          <a:p>
            <a:pPr indent="-250190" lvl="0" marL="320040" rtl="0" algn="l"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900"/>
              <a:buChar char="•"/>
            </a:pPr>
            <a:r>
              <a:rPr lang="en-US" sz="900">
                <a:solidFill>
                  <a:srgbClr val="194170"/>
                </a:solidFill>
              </a:rPr>
              <a:t>Hyperparameters tuning </a:t>
            </a:r>
            <a:endParaRPr sz="900">
              <a:solidFill>
                <a:srgbClr val="194170"/>
              </a:solidFill>
            </a:endParaRPr>
          </a:p>
          <a:p>
            <a:pPr indent="-250190" lvl="0" marL="320040" rtl="0" algn="l"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900"/>
              <a:buChar char="•"/>
            </a:pPr>
            <a:r>
              <a:rPr lang="en-US" sz="900">
                <a:solidFill>
                  <a:srgbClr val="194170"/>
                </a:solidFill>
              </a:rPr>
              <a:t>LoRA/QLoRA quantization fine-tuning</a:t>
            </a:r>
            <a:endParaRPr sz="900">
              <a:solidFill>
                <a:srgbClr val="194170"/>
              </a:solidFill>
            </a:endParaRPr>
          </a:p>
        </p:txBody>
      </p:sp>
      <p:pic>
        <p:nvPicPr>
          <p:cNvPr id="358" name="Google Shape;35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Approaches</a:t>
            </a:r>
            <a:endParaRPr/>
          </a:p>
        </p:txBody>
      </p:sp>
      <p:sp>
        <p:nvSpPr>
          <p:cNvPr id="365" name="Google Shape;365;p32"/>
          <p:cNvSpPr txBox="1"/>
          <p:nvPr>
            <p:ph idx="1" type="body"/>
          </p:nvPr>
        </p:nvSpPr>
        <p:spPr>
          <a:xfrm>
            <a:off x="457200" y="1828800"/>
            <a:ext cx="12330000" cy="54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>
                <a:solidFill>
                  <a:schemeClr val="accent1"/>
                </a:solidFill>
              </a:rPr>
              <a:t>Adding Retrieval Augmented Generation (RAG) and Data Augmentation</a:t>
            </a:r>
            <a:endParaRPr>
              <a:solidFill>
                <a:schemeClr val="accent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>
                <a:solidFill>
                  <a:schemeClr val="accent1"/>
                </a:solidFill>
              </a:rPr>
              <a:t>Agentic Approach </a:t>
            </a:r>
            <a:endParaRPr>
              <a:solidFill>
                <a:schemeClr val="accent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>
                <a:solidFill>
                  <a:schemeClr val="accent1"/>
                </a:solidFill>
              </a:rPr>
              <a:t>Agent 2 Agent </a:t>
            </a:r>
            <a:r>
              <a:rPr lang="en-US">
                <a:solidFill>
                  <a:schemeClr val="accent1"/>
                </a:solidFill>
              </a:rPr>
              <a:t>protocol </a:t>
            </a:r>
            <a:r>
              <a:rPr lang="en-US">
                <a:solidFill>
                  <a:schemeClr val="accent1"/>
                </a:solidFill>
              </a:rPr>
              <a:t>(A2A) </a:t>
            </a:r>
            <a:endParaRPr>
              <a:solidFill>
                <a:schemeClr val="accent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>
                <a:solidFill>
                  <a:schemeClr val="accent1"/>
                </a:solidFill>
              </a:rPr>
              <a:t>Model Context Protocol (MCP)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66" name="Google Shape;3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Adding RAG and Data Augmentation</a:t>
            </a:r>
            <a:endParaRPr/>
          </a:p>
        </p:txBody>
      </p:sp>
      <p:pic>
        <p:nvPicPr>
          <p:cNvPr id="373" name="Google Shape;37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4000" y="2121900"/>
            <a:ext cx="10783923" cy="5358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3"/>
          <p:cNvSpPr txBox="1"/>
          <p:nvPr/>
        </p:nvSpPr>
        <p:spPr>
          <a:xfrm>
            <a:off x="164900" y="1911775"/>
            <a:ext cx="4191300" cy="5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accent1"/>
              </a:solidFill>
            </a:endParaRPr>
          </a:p>
          <a:p>
            <a:pPr indent="-310515" lvl="0" marL="32004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950">
                <a:solidFill>
                  <a:schemeClr val="accent1"/>
                </a:solidFill>
              </a:rPr>
              <a:t>Datasets:</a:t>
            </a:r>
            <a:r>
              <a:rPr lang="en-US" sz="1850">
                <a:solidFill>
                  <a:schemeClr val="accent1"/>
                </a:solidFill>
              </a:rPr>
              <a:t> </a:t>
            </a:r>
            <a:endParaRPr sz="1850">
              <a:solidFill>
                <a:schemeClr val="accent1"/>
              </a:solidFill>
            </a:endParaRPr>
          </a:p>
          <a:p>
            <a:pPr indent="-346075" lvl="1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b="1" lang="en-US" sz="1850">
                <a:solidFill>
                  <a:schemeClr val="accent1"/>
                </a:solidFill>
              </a:rPr>
              <a:t>12,000</a:t>
            </a:r>
            <a:r>
              <a:rPr lang="en-US" sz="1850">
                <a:solidFill>
                  <a:schemeClr val="accent1"/>
                </a:solidFill>
              </a:rPr>
              <a:t> ScienceBase records (Through ScienceBase API) </a:t>
            </a:r>
            <a:endParaRPr sz="1850">
              <a:solidFill>
                <a:schemeClr val="accent1"/>
              </a:solidFill>
            </a:endParaRPr>
          </a:p>
          <a:p>
            <a:pPr indent="-346075" lvl="1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850">
                <a:solidFill>
                  <a:schemeClr val="accent1"/>
                </a:solidFill>
              </a:rPr>
              <a:t>Total files downloaded: </a:t>
            </a:r>
            <a:br>
              <a:rPr lang="en-US" sz="1850">
                <a:solidFill>
                  <a:schemeClr val="accent1"/>
                </a:solidFill>
              </a:rPr>
            </a:br>
            <a:r>
              <a:rPr b="1" lang="en-US" sz="1850">
                <a:solidFill>
                  <a:schemeClr val="accent1"/>
                </a:solidFill>
              </a:rPr>
              <a:t>~577 GB</a:t>
            </a:r>
            <a:endParaRPr sz="1850">
              <a:solidFill>
                <a:schemeClr val="accent1"/>
              </a:solidFill>
            </a:endParaRPr>
          </a:p>
          <a:p>
            <a:pPr indent="-346075" lvl="1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850">
                <a:solidFill>
                  <a:schemeClr val="accent1"/>
                </a:solidFill>
              </a:rPr>
              <a:t>Train Rows (Tabular): </a:t>
            </a:r>
            <a:r>
              <a:rPr b="1" lang="en-US" sz="1850">
                <a:solidFill>
                  <a:schemeClr val="accent1"/>
                </a:solidFill>
              </a:rPr>
              <a:t>22,646</a:t>
            </a:r>
            <a:endParaRPr b="1" sz="1850">
              <a:solidFill>
                <a:schemeClr val="accent1"/>
              </a:solidFill>
            </a:endParaRPr>
          </a:p>
          <a:p>
            <a:pPr indent="-346075" lvl="2" marL="1371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850">
                <a:solidFill>
                  <a:schemeClr val="accent1"/>
                </a:solidFill>
              </a:rPr>
              <a:t>After further processing: </a:t>
            </a:r>
            <a:r>
              <a:rPr b="1" lang="en-US" sz="1850">
                <a:solidFill>
                  <a:schemeClr val="accent1"/>
                </a:solidFill>
              </a:rPr>
              <a:t>~70k-80k</a:t>
            </a:r>
            <a:endParaRPr b="1" sz="1850">
              <a:solidFill>
                <a:schemeClr val="accent1"/>
              </a:solidFill>
            </a:endParaRPr>
          </a:p>
          <a:p>
            <a:pPr indent="-346075" lvl="1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850">
                <a:solidFill>
                  <a:schemeClr val="accent1"/>
                </a:solidFill>
              </a:rPr>
              <a:t>Train Rows (Documents): </a:t>
            </a:r>
            <a:r>
              <a:rPr b="1" lang="en-US" sz="1850">
                <a:solidFill>
                  <a:schemeClr val="accent1"/>
                </a:solidFill>
              </a:rPr>
              <a:t>13,323</a:t>
            </a:r>
            <a:br>
              <a:rPr b="1" lang="en-US" sz="1850">
                <a:solidFill>
                  <a:schemeClr val="accent1"/>
                </a:solidFill>
              </a:rPr>
            </a:br>
            <a:endParaRPr b="1" sz="1850">
              <a:solidFill>
                <a:schemeClr val="accent1"/>
              </a:solidFill>
            </a:endParaRPr>
          </a:p>
          <a:p>
            <a:pPr indent="-346075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950">
                <a:solidFill>
                  <a:schemeClr val="accent1"/>
                </a:solidFill>
              </a:rPr>
              <a:t>Resources:</a:t>
            </a:r>
            <a:r>
              <a:rPr lang="en-US" sz="1850">
                <a:solidFill>
                  <a:schemeClr val="accent1"/>
                </a:solidFill>
              </a:rPr>
              <a:t> </a:t>
            </a:r>
            <a:endParaRPr sz="1850">
              <a:solidFill>
                <a:schemeClr val="accent1"/>
              </a:solidFill>
            </a:endParaRPr>
          </a:p>
          <a:p>
            <a:pPr indent="-334327" lvl="1" marL="914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65"/>
              <a:buChar char="•"/>
            </a:pPr>
            <a:r>
              <a:rPr b="1" lang="en-US" sz="1850">
                <a:solidFill>
                  <a:schemeClr val="accent1"/>
                </a:solidFill>
              </a:rPr>
              <a:t>ARM Data Center (ADC) Cumulus (4 GPUs* | A100 80GB)</a:t>
            </a:r>
            <a:br>
              <a:rPr b="1" lang="en-US" sz="1850">
                <a:solidFill>
                  <a:schemeClr val="accent1"/>
                </a:solidFill>
              </a:rPr>
            </a:br>
            <a:endParaRPr b="1" sz="1850">
              <a:solidFill>
                <a:schemeClr val="accent1"/>
              </a:solidFill>
            </a:endParaRPr>
          </a:p>
          <a:p>
            <a:pPr indent="-34607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50"/>
              <a:buChar char="•"/>
            </a:pPr>
            <a:r>
              <a:rPr lang="en-US" sz="1950">
                <a:solidFill>
                  <a:schemeClr val="accent1"/>
                </a:solidFill>
              </a:rPr>
              <a:t>LLM in use:</a:t>
            </a:r>
            <a:r>
              <a:rPr lang="en-US" sz="1850">
                <a:solidFill>
                  <a:schemeClr val="accent1"/>
                </a:solidFill>
              </a:rPr>
              <a:t> </a:t>
            </a:r>
            <a:endParaRPr sz="1850">
              <a:solidFill>
                <a:schemeClr val="accent1"/>
              </a:solidFill>
            </a:endParaRPr>
          </a:p>
          <a:p>
            <a:pPr indent="-334327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5"/>
              <a:buChar char="•"/>
            </a:pPr>
            <a:r>
              <a:rPr b="1" lang="en-US" sz="1850">
                <a:solidFill>
                  <a:schemeClr val="accent1"/>
                </a:solidFill>
              </a:rPr>
              <a:t>LLaMA 3</a:t>
            </a:r>
            <a:r>
              <a:rPr b="1" lang="en-US" sz="1850">
                <a:solidFill>
                  <a:schemeClr val="accent1"/>
                </a:solidFill>
              </a:rPr>
              <a:t>.1</a:t>
            </a:r>
            <a:r>
              <a:rPr b="1" lang="en-US" sz="1850">
                <a:solidFill>
                  <a:schemeClr val="accent1"/>
                </a:solidFill>
              </a:rPr>
              <a:t>, Mistral </a:t>
            </a:r>
            <a:endParaRPr b="1" sz="1850">
              <a:solidFill>
                <a:schemeClr val="accent1"/>
              </a:solidFill>
            </a:endParaRPr>
          </a:p>
        </p:txBody>
      </p:sp>
      <p:sp>
        <p:nvSpPr>
          <p:cNvPr id="375" name="Google Shape;375;p33"/>
          <p:cNvSpPr txBox="1"/>
          <p:nvPr/>
        </p:nvSpPr>
        <p:spPr>
          <a:xfrm>
            <a:off x="8955875" y="2958948"/>
            <a:ext cx="16908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0190" lvl="0" marL="320040" rtl="0" algn="l"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900"/>
              <a:buChar char="•"/>
            </a:pPr>
            <a:r>
              <a:rPr lang="en-US" sz="900">
                <a:solidFill>
                  <a:srgbClr val="194170"/>
                </a:solidFill>
              </a:rPr>
              <a:t>Custom trained datasets</a:t>
            </a:r>
            <a:endParaRPr sz="900">
              <a:solidFill>
                <a:srgbClr val="194170"/>
              </a:solidFill>
            </a:endParaRPr>
          </a:p>
          <a:p>
            <a:pPr indent="-250190" lvl="0" marL="320040" rtl="0" algn="l"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900"/>
              <a:buChar char="•"/>
            </a:pPr>
            <a:r>
              <a:rPr lang="en-US" sz="900">
                <a:solidFill>
                  <a:srgbClr val="194170"/>
                </a:solidFill>
              </a:rPr>
              <a:t>Transfer learning</a:t>
            </a:r>
            <a:endParaRPr sz="900">
              <a:solidFill>
                <a:srgbClr val="194170"/>
              </a:solidFill>
            </a:endParaRPr>
          </a:p>
          <a:p>
            <a:pPr indent="-250190" lvl="0" marL="320040" rtl="0" algn="l"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900"/>
              <a:buChar char="•"/>
            </a:pPr>
            <a:r>
              <a:rPr lang="en-US" sz="900">
                <a:solidFill>
                  <a:srgbClr val="194170"/>
                </a:solidFill>
              </a:rPr>
              <a:t>Hyperparameters tuning </a:t>
            </a:r>
            <a:endParaRPr sz="900">
              <a:solidFill>
                <a:srgbClr val="194170"/>
              </a:solidFill>
            </a:endParaRPr>
          </a:p>
          <a:p>
            <a:pPr indent="-250190" lvl="0" marL="320040" rtl="0" algn="l"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900"/>
              <a:buChar char="•"/>
            </a:pPr>
            <a:r>
              <a:rPr lang="en-US" sz="900">
                <a:solidFill>
                  <a:srgbClr val="194170"/>
                </a:solidFill>
              </a:rPr>
              <a:t>LoRA/QLoRA quantization fine-tuning</a:t>
            </a:r>
            <a:endParaRPr sz="900">
              <a:solidFill>
                <a:srgbClr val="194170"/>
              </a:solidFill>
            </a:endParaRPr>
          </a:p>
        </p:txBody>
      </p:sp>
      <p:sp>
        <p:nvSpPr>
          <p:cNvPr id="376" name="Google Shape;376;p33"/>
          <p:cNvSpPr txBox="1"/>
          <p:nvPr/>
        </p:nvSpPr>
        <p:spPr>
          <a:xfrm>
            <a:off x="11929950" y="2958942"/>
            <a:ext cx="16908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94170"/>
                </a:solidFill>
              </a:rPr>
              <a:t>Embedded documents in PGvector for efficient semantic search, integrated with LangChain</a:t>
            </a:r>
            <a:endParaRPr sz="900">
              <a:solidFill>
                <a:srgbClr val="194170"/>
              </a:solidFill>
            </a:endParaRPr>
          </a:p>
        </p:txBody>
      </p:sp>
      <p:sp>
        <p:nvSpPr>
          <p:cNvPr id="377" name="Google Shape;377;p33"/>
          <p:cNvSpPr txBox="1"/>
          <p:nvPr/>
        </p:nvSpPr>
        <p:spPr>
          <a:xfrm>
            <a:off x="9400025" y="6691850"/>
            <a:ext cx="16908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0190" lvl="0" marL="320040" rtl="0" algn="l"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900"/>
              <a:buChar char="•"/>
            </a:pPr>
            <a:r>
              <a:rPr lang="en-US" sz="900">
                <a:solidFill>
                  <a:srgbClr val="194170"/>
                </a:solidFill>
              </a:rPr>
              <a:t>Infer metadata from diverse input types</a:t>
            </a:r>
            <a:endParaRPr sz="900">
              <a:solidFill>
                <a:srgbClr val="194170"/>
              </a:solidFill>
            </a:endParaRPr>
          </a:p>
          <a:p>
            <a:pPr indent="-250190" lvl="0" marL="320040" rtl="0" algn="l">
              <a:spcBef>
                <a:spcPts val="0"/>
              </a:spcBef>
              <a:spcAft>
                <a:spcPts val="0"/>
              </a:spcAft>
              <a:buClr>
                <a:srgbClr val="194173"/>
              </a:buClr>
              <a:buSzPts val="900"/>
              <a:buChar char="•"/>
            </a:pPr>
            <a:r>
              <a:rPr lang="en-US" sz="900">
                <a:solidFill>
                  <a:srgbClr val="194170"/>
                </a:solidFill>
              </a:rPr>
              <a:t>Random dropout at the data level to improve model generation and resilience </a:t>
            </a:r>
            <a:endParaRPr sz="900">
              <a:solidFill>
                <a:srgbClr val="194170"/>
              </a:solidFill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10993450" y="2723300"/>
            <a:ext cx="2791500" cy="1058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3"/>
          <p:cNvSpPr txBox="1"/>
          <p:nvPr/>
        </p:nvSpPr>
        <p:spPr>
          <a:xfrm>
            <a:off x="7663550" y="1609550"/>
            <a:ext cx="2628900" cy="587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1"/>
                </a:solidFill>
              </a:rPr>
              <a:t>What is RAG? </a:t>
            </a:r>
            <a:endParaRPr sz="2800">
              <a:solidFill>
                <a:schemeClr val="accent1"/>
              </a:solidFill>
            </a:endParaRPr>
          </a:p>
        </p:txBody>
      </p:sp>
      <p:cxnSp>
        <p:nvCxnSpPr>
          <p:cNvPr id="380" name="Google Shape;380;p33"/>
          <p:cNvCxnSpPr>
            <a:stCxn id="379" idx="3"/>
            <a:endCxn id="378" idx="0"/>
          </p:cNvCxnSpPr>
          <p:nvPr/>
        </p:nvCxnSpPr>
        <p:spPr>
          <a:xfrm>
            <a:off x="10292450" y="1903100"/>
            <a:ext cx="2096700" cy="820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stealth"/>
            <a:tailEnd len="med" w="med" type="none"/>
          </a:ln>
        </p:spPr>
      </p:cxnSp>
      <p:pic>
        <p:nvPicPr>
          <p:cNvPr id="381" name="Google Shape;38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4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</a:t>
            </a:r>
            <a:r>
              <a:rPr lang="en-US"/>
              <a:t> is RAG?</a:t>
            </a:r>
            <a:endParaRPr/>
          </a:p>
        </p:txBody>
      </p:sp>
      <p:sp>
        <p:nvSpPr>
          <p:cNvPr id="388" name="Google Shape;388;p34"/>
          <p:cNvSpPr txBox="1"/>
          <p:nvPr>
            <p:ph idx="1" type="body"/>
          </p:nvPr>
        </p:nvSpPr>
        <p:spPr>
          <a:xfrm>
            <a:off x="457200" y="1828800"/>
            <a:ext cx="13592100" cy="54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>
                <a:solidFill>
                  <a:schemeClr val="accent1"/>
                </a:solidFill>
              </a:rPr>
              <a:t>Enhances LLM output by referencing external, </a:t>
            </a:r>
            <a:r>
              <a:rPr lang="en-US">
                <a:solidFill>
                  <a:schemeClr val="accent1"/>
                </a:solidFill>
              </a:rPr>
              <a:t>authoritative</a:t>
            </a:r>
            <a:r>
              <a:rPr lang="en-US">
                <a:solidFill>
                  <a:schemeClr val="accent1"/>
                </a:solidFill>
              </a:rPr>
              <a:t> data during generation </a:t>
            </a:r>
            <a:endParaRPr>
              <a:solidFill>
                <a:schemeClr val="accent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>
                <a:solidFill>
                  <a:schemeClr val="accent1"/>
                </a:solidFill>
              </a:rPr>
              <a:t>Avoids retraining models - injects domain-specific knowledge specifically</a:t>
            </a:r>
            <a:endParaRPr>
              <a:solidFill>
                <a:schemeClr val="accent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>
                <a:solidFill>
                  <a:schemeClr val="accent1"/>
                </a:solidFill>
              </a:rPr>
              <a:t>Bridges static LLM training with evolving knowledge sources for </a:t>
            </a:r>
            <a:r>
              <a:rPr lang="en-US">
                <a:solidFill>
                  <a:schemeClr val="accent1"/>
                </a:solidFill>
              </a:rPr>
              <a:t>relevance and accuracy </a:t>
            </a:r>
            <a:endParaRPr>
              <a:solidFill>
                <a:schemeClr val="accent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>
                <a:solidFill>
                  <a:schemeClr val="accent1"/>
                </a:solidFill>
              </a:rPr>
              <a:t>Key enabler for building agentic systems that interact with changing environments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89" name="Google Shape;3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3072"/>
            <a:ext cx="14630400" cy="1020271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5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RAG Workflow with LangGraph</a:t>
            </a:r>
            <a:endParaRPr/>
          </a:p>
        </p:txBody>
      </p:sp>
      <p:pic>
        <p:nvPicPr>
          <p:cNvPr id="397" name="Google Shape;39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7781" y="1483075"/>
            <a:ext cx="12629765" cy="674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650275"/>
            <a:ext cx="7755575" cy="5305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" name="Google Shape;400;p35"/>
          <p:cNvCxnSpPr/>
          <p:nvPr/>
        </p:nvCxnSpPr>
        <p:spPr>
          <a:xfrm flipH="1" rot="10800000">
            <a:off x="8398500" y="2180075"/>
            <a:ext cx="849600" cy="1560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1420573"/>
            <a:ext cx="14630400" cy="10202798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6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RAG Workflow with LangGraph</a:t>
            </a:r>
            <a:endParaRPr/>
          </a:p>
        </p:txBody>
      </p:sp>
      <p:pic>
        <p:nvPicPr>
          <p:cNvPr id="408" name="Google Shape;40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6200" y="1420575"/>
            <a:ext cx="12994698" cy="7024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0" name="Google Shape;410;p36"/>
          <p:cNvCxnSpPr/>
          <p:nvPr/>
        </p:nvCxnSpPr>
        <p:spPr>
          <a:xfrm flipH="1" rot="10800000">
            <a:off x="8222025" y="3326750"/>
            <a:ext cx="849600" cy="1560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11" name="Google Shape;411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420575"/>
            <a:ext cx="8089326" cy="81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0573"/>
            <a:ext cx="14630400" cy="10202787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7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RAG Workflow with LangGraph</a:t>
            </a:r>
            <a:endParaRPr/>
          </a:p>
        </p:txBody>
      </p:sp>
      <p:pic>
        <p:nvPicPr>
          <p:cNvPr id="419" name="Google Shape;41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3950" y="1420575"/>
            <a:ext cx="12942976" cy="69960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1" name="Google Shape;421;p37"/>
          <p:cNvCxnSpPr/>
          <p:nvPr/>
        </p:nvCxnSpPr>
        <p:spPr>
          <a:xfrm flipH="1" rot="10800000">
            <a:off x="8557750" y="4414575"/>
            <a:ext cx="849600" cy="1560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22" name="Google Shape;422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420575"/>
            <a:ext cx="8409351" cy="941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3074"/>
            <a:ext cx="14630400" cy="10202779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8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RAG Workflow with LangGraph</a:t>
            </a:r>
            <a:endParaRPr/>
          </a:p>
        </p:txBody>
      </p:sp>
      <p:pic>
        <p:nvPicPr>
          <p:cNvPr id="430" name="Google Shape;43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5775" y="1483075"/>
            <a:ext cx="12972175" cy="7011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2" name="Google Shape;432;p38"/>
          <p:cNvCxnSpPr/>
          <p:nvPr/>
        </p:nvCxnSpPr>
        <p:spPr>
          <a:xfrm flipH="1" rot="10800000">
            <a:off x="7219000" y="5740188"/>
            <a:ext cx="849600" cy="1560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33" name="Google Shape;433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1875" y="4715088"/>
            <a:ext cx="4922700" cy="20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470323"/>
            <a:ext cx="14630400" cy="10202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9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RAG Workflow with LangGraph</a:t>
            </a:r>
            <a:endParaRPr/>
          </a:p>
        </p:txBody>
      </p:sp>
      <p:pic>
        <p:nvPicPr>
          <p:cNvPr id="441" name="Google Shape;44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2375" y="1470324"/>
            <a:ext cx="13188951" cy="7129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3" name="Google Shape;443;p39"/>
          <p:cNvCxnSpPr/>
          <p:nvPr/>
        </p:nvCxnSpPr>
        <p:spPr>
          <a:xfrm flipH="1" rot="10800000">
            <a:off x="9571225" y="6835625"/>
            <a:ext cx="849600" cy="1560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44" name="Google Shape;444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470325"/>
            <a:ext cx="9433649" cy="977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6800"/>
            <a:ext cx="14630400" cy="6742801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0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RAG Workflow with LangGraph</a:t>
            </a:r>
            <a:endParaRPr/>
          </a:p>
        </p:txBody>
      </p:sp>
      <p:pic>
        <p:nvPicPr>
          <p:cNvPr id="452" name="Google Shape;45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Agentic AI Approach</a:t>
            </a:r>
            <a:endParaRPr/>
          </a:p>
        </p:txBody>
      </p:sp>
      <p:sp>
        <p:nvSpPr>
          <p:cNvPr id="459" name="Google Shape;459;p41"/>
          <p:cNvSpPr txBox="1"/>
          <p:nvPr>
            <p:ph idx="1" type="body"/>
          </p:nvPr>
        </p:nvSpPr>
        <p:spPr>
          <a:xfrm>
            <a:off x="457200" y="1828800"/>
            <a:ext cx="6583800" cy="54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What are AI Agents?</a:t>
            </a:r>
            <a:endParaRPr>
              <a:solidFill>
                <a:schemeClr val="accent1"/>
              </a:solidFill>
            </a:endParaRPr>
          </a:p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>
                <a:solidFill>
                  <a:schemeClr val="accent1"/>
                </a:solidFill>
              </a:rPr>
              <a:t>Self-directed autonomous application that harness LLM reasoning, tool usage, context-awareness from different sources to carry out various tasks</a:t>
            </a:r>
            <a:endParaRPr>
              <a:solidFill>
                <a:schemeClr val="accent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>
                <a:solidFill>
                  <a:schemeClr val="accent1"/>
                </a:solidFill>
              </a:rPr>
              <a:t>Agents can:</a:t>
            </a:r>
            <a:endParaRPr>
              <a:solidFill>
                <a:schemeClr val="accent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>
                <a:solidFill>
                  <a:schemeClr val="accent1"/>
                </a:solidFill>
              </a:rPr>
              <a:t>think through chain-of-thought, </a:t>
            </a:r>
            <a:endParaRPr>
              <a:solidFill>
                <a:schemeClr val="accent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>
                <a:solidFill>
                  <a:schemeClr val="accent1"/>
                </a:solidFill>
              </a:rPr>
              <a:t>plan</a:t>
            </a:r>
            <a:endParaRPr>
              <a:solidFill>
                <a:schemeClr val="accent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>
                <a:solidFill>
                  <a:schemeClr val="accent1"/>
                </a:solidFill>
              </a:rPr>
              <a:t>execute, </a:t>
            </a:r>
            <a:r>
              <a:rPr lang="en-US">
                <a:solidFill>
                  <a:schemeClr val="accent1"/>
                </a:solidFill>
              </a:rPr>
              <a:t>and</a:t>
            </a:r>
            <a:endParaRPr>
              <a:solidFill>
                <a:schemeClr val="accent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>
                <a:solidFill>
                  <a:schemeClr val="accent1"/>
                </a:solidFill>
              </a:rPr>
              <a:t>refine their actions as needed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60" name="Google Shape;460;p41"/>
          <p:cNvSpPr txBox="1"/>
          <p:nvPr>
            <p:ph idx="2" type="body"/>
          </p:nvPr>
        </p:nvSpPr>
        <p:spPr>
          <a:xfrm>
            <a:off x="7589520" y="1828800"/>
            <a:ext cx="6583800" cy="54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What is Agentic AI?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An AI system that can take initiative and perform sequence of actions to complete tasks by </a:t>
            </a:r>
            <a:endParaRPr>
              <a:solidFill>
                <a:schemeClr val="accen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reasoning </a:t>
            </a:r>
            <a:endParaRPr>
              <a:solidFill>
                <a:schemeClr val="accen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learning, and </a:t>
            </a:r>
            <a:endParaRPr>
              <a:solidFill>
                <a:schemeClr val="accen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adapting to changing conditions  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461" name="Google Shape;46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2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Agentic AI Approach</a:t>
            </a:r>
            <a:endParaRPr/>
          </a:p>
        </p:txBody>
      </p:sp>
      <p:pic>
        <p:nvPicPr>
          <p:cNvPr id="468" name="Google Shape;46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2"/>
          <p:cNvSpPr txBox="1"/>
          <p:nvPr>
            <p:ph idx="1" type="body"/>
          </p:nvPr>
        </p:nvSpPr>
        <p:spPr>
          <a:xfrm>
            <a:off x="457200" y="1828800"/>
            <a:ext cx="12496800" cy="54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How agents are different than models?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 Model (like LLM):</a:t>
            </a:r>
            <a:endParaRPr>
              <a:solidFill>
                <a:schemeClr val="accent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Simply generates outputs based on its training data and the given prompt</a:t>
            </a:r>
            <a:endParaRPr>
              <a:solidFill>
                <a:schemeClr val="accent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No mechanism (typically) for external actions, or complex decision loops and validations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Agent:</a:t>
            </a:r>
            <a:endParaRPr>
              <a:solidFill>
                <a:schemeClr val="accent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Includes the model but goes further</a:t>
            </a:r>
            <a:endParaRPr>
              <a:solidFill>
                <a:schemeClr val="accent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Maintains a stateful process </a:t>
            </a:r>
            <a:endParaRPr>
              <a:solidFill>
                <a:schemeClr val="accent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Uses external tools to get recent data or perform actions </a:t>
            </a:r>
            <a:endParaRPr>
              <a:solidFill>
                <a:schemeClr val="accent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Follows a defined orchestration logic </a:t>
            </a:r>
            <a:endParaRPr>
              <a:solidFill>
                <a:schemeClr val="accent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lang="en-US">
                <a:solidFill>
                  <a:schemeClr val="accent1"/>
                </a:solidFill>
              </a:rPr>
              <a:t>Overall, adds capabilities needed for </a:t>
            </a:r>
            <a:r>
              <a:rPr b="1" lang="en-US" u="sng">
                <a:solidFill>
                  <a:schemeClr val="accent1"/>
                </a:solidFill>
              </a:rPr>
              <a:t>autonomous, goal-directed behaviour</a:t>
            </a:r>
            <a:endParaRPr b="1" u="sng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3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Agentic AI Approach</a:t>
            </a:r>
            <a:endParaRPr/>
          </a:p>
        </p:txBody>
      </p:sp>
      <p:sp>
        <p:nvSpPr>
          <p:cNvPr id="476" name="Google Shape;476;p43"/>
          <p:cNvSpPr txBox="1"/>
          <p:nvPr>
            <p:ph idx="1" type="body"/>
          </p:nvPr>
        </p:nvSpPr>
        <p:spPr>
          <a:xfrm>
            <a:off x="457200" y="1828800"/>
            <a:ext cx="7079400" cy="56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1"/>
                </a:solidFill>
              </a:rPr>
              <a:t>Model Context Protocol (MCP)</a:t>
            </a:r>
            <a:endParaRPr sz="2700">
              <a:solidFill>
                <a:schemeClr val="accen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en-US" sz="2200">
                <a:solidFill>
                  <a:schemeClr val="accent1"/>
                </a:solidFill>
              </a:rPr>
              <a:t>Open standard, connects AI agents to relevant data sources, such as repositories, tools, or external APIs</a:t>
            </a:r>
            <a:endParaRPr sz="2200">
              <a:solidFill>
                <a:schemeClr val="accen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en-US" sz="2200">
                <a:solidFill>
                  <a:schemeClr val="accent1"/>
                </a:solidFill>
              </a:rPr>
              <a:t>Provides universal interface to connect multiple relevant sources to feed right context to the models and agents</a:t>
            </a:r>
            <a:endParaRPr sz="2200">
              <a:solidFill>
                <a:schemeClr val="accen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en-US" sz="2200">
                <a:solidFill>
                  <a:schemeClr val="accent1"/>
                </a:solidFill>
              </a:rPr>
              <a:t>Simplifies how agents access relevant context, leading to better task outcomes, execution and more consistent performance</a:t>
            </a:r>
            <a:endParaRPr sz="2200">
              <a:solidFill>
                <a:schemeClr val="accent1"/>
              </a:solidFill>
            </a:endParaRPr>
          </a:p>
        </p:txBody>
      </p:sp>
      <p:sp>
        <p:nvSpPr>
          <p:cNvPr id="477" name="Google Shape;477;p43"/>
          <p:cNvSpPr txBox="1"/>
          <p:nvPr>
            <p:ph idx="2" type="body"/>
          </p:nvPr>
        </p:nvSpPr>
        <p:spPr>
          <a:xfrm>
            <a:off x="8049763" y="2064800"/>
            <a:ext cx="6265800" cy="34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Agent 2 Agent Protocol (A2A)</a:t>
            </a:r>
            <a:endParaRPr>
              <a:solidFill>
                <a:schemeClr val="accen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 sz="2400">
                <a:solidFill>
                  <a:schemeClr val="accent1"/>
                </a:solidFill>
              </a:rPr>
              <a:t>Multiple agents communicate each other</a:t>
            </a:r>
            <a:endParaRPr sz="2400">
              <a:solidFill>
                <a:schemeClr val="accen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 sz="2400">
                <a:solidFill>
                  <a:schemeClr val="accent1"/>
                </a:solidFill>
              </a:rPr>
              <a:t>Securely exchange information</a:t>
            </a:r>
            <a:endParaRPr sz="2400">
              <a:solidFill>
                <a:schemeClr val="accen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 sz="2400">
                <a:solidFill>
                  <a:schemeClr val="accent1"/>
                </a:solidFill>
              </a:rPr>
              <a:t>Coordinate actions </a:t>
            </a:r>
            <a:endParaRPr sz="2400">
              <a:solidFill>
                <a:schemeClr val="accen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 sz="2400">
                <a:solidFill>
                  <a:schemeClr val="accent1"/>
                </a:solidFill>
              </a:rPr>
              <a:t>Integrate capabilities</a:t>
            </a:r>
            <a:endParaRPr sz="2400">
              <a:solidFill>
                <a:schemeClr val="accen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 sz="2400">
                <a:solidFill>
                  <a:schemeClr val="accent1"/>
                </a:solidFill>
              </a:rPr>
              <a:t>A2A fosters multi-agent </a:t>
            </a:r>
            <a:r>
              <a:rPr lang="en-US" sz="2400">
                <a:solidFill>
                  <a:schemeClr val="accent1"/>
                </a:solidFill>
              </a:rPr>
              <a:t>collaborations</a:t>
            </a:r>
            <a:r>
              <a:rPr lang="en-US" sz="2400">
                <a:solidFill>
                  <a:schemeClr val="accent1"/>
                </a:solidFill>
              </a:rPr>
              <a:t> otherwise siloed systems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396875" y="5498600"/>
            <a:ext cx="6961200" cy="1691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en-US" sz="2200">
                <a:solidFill>
                  <a:schemeClr val="accent1"/>
                </a:solidFill>
              </a:rPr>
              <a:t>Direct communication between agents only solves half the problem</a:t>
            </a:r>
            <a:endParaRPr sz="2200">
              <a:solidFill>
                <a:schemeClr val="accen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en-US" sz="2200">
                <a:solidFill>
                  <a:schemeClr val="accent1"/>
                </a:solidFill>
              </a:rPr>
              <a:t>Agents also need relevant, up-to-date data and context</a:t>
            </a:r>
            <a:endParaRPr sz="2200"/>
          </a:p>
        </p:txBody>
      </p:sp>
      <p:cxnSp>
        <p:nvCxnSpPr>
          <p:cNvPr id="479" name="Google Shape;479;p43"/>
          <p:cNvCxnSpPr>
            <a:stCxn id="478" idx="3"/>
          </p:cNvCxnSpPr>
          <p:nvPr/>
        </p:nvCxnSpPr>
        <p:spPr>
          <a:xfrm flipH="1" rot="10800000">
            <a:off x="7358075" y="5155250"/>
            <a:ext cx="1035900" cy="1189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id="480" name="Google Shape;48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Sneak Peak - Proposed Workflow</a:t>
            </a:r>
            <a:endParaRPr/>
          </a:p>
        </p:txBody>
      </p:sp>
      <p:pic>
        <p:nvPicPr>
          <p:cNvPr id="487" name="Google Shape;487;p44" title="A2A Work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650" y="1436302"/>
            <a:ext cx="13064899" cy="6640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5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Sneak Peak - A2A Multi-Agent</a:t>
            </a:r>
            <a:endParaRPr/>
          </a:p>
        </p:txBody>
      </p:sp>
      <p:pic>
        <p:nvPicPr>
          <p:cNvPr id="495" name="Google Shape;495;p45" title="A2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0100" y="2081287"/>
            <a:ext cx="15227177" cy="4067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6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Sneak Peak - A2A Multiagent</a:t>
            </a:r>
            <a:endParaRPr/>
          </a:p>
        </p:txBody>
      </p:sp>
      <p:pic>
        <p:nvPicPr>
          <p:cNvPr id="503" name="Google Shape;503;p46" title="A2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0100" y="2081287"/>
            <a:ext cx="15227177" cy="4067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6" title="mermaid-diagram-2025-06-16-1502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186" y="5507150"/>
            <a:ext cx="2800313" cy="272244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6"/>
          <p:cNvSpPr/>
          <p:nvPr/>
        </p:nvSpPr>
        <p:spPr>
          <a:xfrm>
            <a:off x="4484100" y="2793663"/>
            <a:ext cx="5662200" cy="1428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6" name="Google Shape;506;p46"/>
          <p:cNvCxnSpPr>
            <a:stCxn id="505" idx="2"/>
          </p:cNvCxnSpPr>
          <p:nvPr/>
        </p:nvCxnSpPr>
        <p:spPr>
          <a:xfrm flipH="1">
            <a:off x="5635500" y="4222263"/>
            <a:ext cx="1679700" cy="18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id="507" name="Google Shape;507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7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Sneak Peak - A2A Communication</a:t>
            </a:r>
            <a:endParaRPr/>
          </a:p>
        </p:txBody>
      </p:sp>
      <p:pic>
        <p:nvPicPr>
          <p:cNvPr id="514" name="Google Shape;514;p47" title="mermaid-diagram-2025-06-16-150200.png"/>
          <p:cNvPicPr preferRelativeResize="0"/>
          <p:nvPr/>
        </p:nvPicPr>
        <p:blipFill rotWithShape="1">
          <a:blip r:embed="rId3">
            <a:alphaModFix/>
          </a:blip>
          <a:srcRect b="10024" l="0" r="0" t="9590"/>
          <a:stretch/>
        </p:blipFill>
        <p:spPr>
          <a:xfrm>
            <a:off x="2395728" y="1472184"/>
            <a:ext cx="10198973" cy="6755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8"/>
          <p:cNvSpPr txBox="1"/>
          <p:nvPr>
            <p:ph type="title"/>
          </p:nvPr>
        </p:nvSpPr>
        <p:spPr>
          <a:xfrm>
            <a:off x="457200" y="241402"/>
            <a:ext cx="10972800" cy="104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pic>
        <p:nvPicPr>
          <p:cNvPr id="522" name="Google Shape;52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0825" y="490250"/>
            <a:ext cx="1523675" cy="60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48" title="Automated Workflow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18900" y="1972100"/>
            <a:ext cx="15322025" cy="44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9"/>
          <p:cNvSpPr txBox="1"/>
          <p:nvPr>
            <p:ph type="title"/>
          </p:nvPr>
        </p:nvSpPr>
        <p:spPr>
          <a:xfrm>
            <a:off x="0" y="1500200"/>
            <a:ext cx="14630400" cy="28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530" name="Google Shape;530;p49"/>
          <p:cNvSpPr txBox="1"/>
          <p:nvPr>
            <p:ph idx="11" type="ftr"/>
          </p:nvPr>
        </p:nvSpPr>
        <p:spPr>
          <a:xfrm>
            <a:off x="4389121" y="7671816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9"/>
          <p:cNvSpPr txBox="1"/>
          <p:nvPr>
            <p:ph idx="10" type="dt"/>
          </p:nvPr>
        </p:nvSpPr>
        <p:spPr>
          <a:xfrm>
            <a:off x="10972800" y="767181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June 29, 2025</a:t>
            </a:r>
            <a:endParaRPr/>
          </a:p>
        </p:txBody>
      </p:sp>
      <p:pic>
        <p:nvPicPr>
          <p:cNvPr id="532" name="Google Shape;532;p49" title="bit.ly_scipy-automated-metada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3500" y="3438425"/>
            <a:ext cx="3543400" cy="35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9"/>
          <p:cNvSpPr txBox="1"/>
          <p:nvPr/>
        </p:nvSpPr>
        <p:spPr>
          <a:xfrm>
            <a:off x="0" y="5524500"/>
            <a:ext cx="47031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2"/>
                </a:solidFill>
              </a:rPr>
              <a:t>For questions, r</a:t>
            </a:r>
            <a:r>
              <a:rPr lang="en-US" sz="2100">
                <a:solidFill>
                  <a:schemeClr val="lt2"/>
                </a:solidFill>
              </a:rPr>
              <a:t>each us at:</a:t>
            </a:r>
            <a:endParaRPr sz="21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2"/>
                </a:solidFill>
              </a:rPr>
              <a:t>Tudor Garbulet: </a:t>
            </a:r>
            <a:r>
              <a:rPr lang="en-US" sz="2100" u="sng">
                <a:solidFill>
                  <a:schemeClr val="l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garbuletvt@ornl.gov</a:t>
            </a:r>
            <a:br>
              <a:rPr lang="en-US" sz="2100">
                <a:solidFill>
                  <a:schemeClr val="lt2"/>
                </a:solidFill>
              </a:rPr>
            </a:br>
            <a:r>
              <a:rPr lang="en-US" sz="2100">
                <a:solidFill>
                  <a:schemeClr val="lt2"/>
                </a:solidFill>
              </a:rPr>
              <a:t>Chirag Shah: </a:t>
            </a:r>
            <a:r>
              <a:rPr lang="en-US" sz="2100" u="sng">
                <a:solidFill>
                  <a:schemeClr val="lt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shahch@ornl.gov</a:t>
            </a:r>
            <a:endParaRPr sz="21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2"/>
                </a:solidFill>
              </a:rPr>
              <a:t>Austin Aguilar: </a:t>
            </a:r>
            <a:r>
              <a:rPr lang="en-US" sz="2100" u="sng">
                <a:solidFill>
                  <a:schemeClr val="lt2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aguilaral@ornl.gov</a:t>
            </a:r>
            <a:r>
              <a:rPr lang="en-US" sz="2100">
                <a:solidFill>
                  <a:schemeClr val="lt2"/>
                </a:solidFill>
              </a:rPr>
              <a:t>	</a:t>
            </a:r>
            <a:endParaRPr sz="21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2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RM Title Slides">
  <a:themeElements>
    <a:clrScheme name="Custom 4">
      <a:dk1>
        <a:srgbClr val="2B2B2B"/>
      </a:dk1>
      <a:lt1>
        <a:srgbClr val="2B2B2B"/>
      </a:lt1>
      <a:dk2>
        <a:srgbClr val="828282"/>
      </a:dk2>
      <a:lt2>
        <a:srgbClr val="FFFFFF"/>
      </a:lt2>
      <a:accent1>
        <a:srgbClr val="194170"/>
      </a:accent1>
      <a:accent2>
        <a:srgbClr val="8ABEDC"/>
      </a:accent2>
      <a:accent3>
        <a:srgbClr val="828282"/>
      </a:accent3>
      <a:accent4>
        <a:srgbClr val="00BD70"/>
      </a:accent4>
      <a:accent5>
        <a:srgbClr val="BDBBBB"/>
      </a:accent5>
      <a:accent6>
        <a:srgbClr val="F7C446"/>
      </a:accent6>
      <a:hlink>
        <a:srgbClr val="00BD70"/>
      </a:hlink>
      <a:folHlink>
        <a:srgbClr val="0059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ction Divider Slides">
  <a:themeElements>
    <a:clrScheme name="Custom 4">
      <a:dk1>
        <a:srgbClr val="2B2B2B"/>
      </a:dk1>
      <a:lt1>
        <a:srgbClr val="2B2B2B"/>
      </a:lt1>
      <a:dk2>
        <a:srgbClr val="828282"/>
      </a:dk2>
      <a:lt2>
        <a:srgbClr val="FFFFFF"/>
      </a:lt2>
      <a:accent1>
        <a:srgbClr val="194170"/>
      </a:accent1>
      <a:accent2>
        <a:srgbClr val="8ABEDC"/>
      </a:accent2>
      <a:accent3>
        <a:srgbClr val="828282"/>
      </a:accent3>
      <a:accent4>
        <a:srgbClr val="00BD70"/>
      </a:accent4>
      <a:accent5>
        <a:srgbClr val="BDBBBB"/>
      </a:accent5>
      <a:accent6>
        <a:srgbClr val="F7C446"/>
      </a:accent6>
      <a:hlink>
        <a:srgbClr val="00BD70"/>
      </a:hlink>
      <a:folHlink>
        <a:srgbClr val="0059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RM - Light Blue Slides">
  <a:themeElements>
    <a:clrScheme name="Custom 4">
      <a:dk1>
        <a:srgbClr val="2B2B2B"/>
      </a:dk1>
      <a:lt1>
        <a:srgbClr val="2B2B2B"/>
      </a:lt1>
      <a:dk2>
        <a:srgbClr val="828282"/>
      </a:dk2>
      <a:lt2>
        <a:srgbClr val="FFFFFF"/>
      </a:lt2>
      <a:accent1>
        <a:srgbClr val="194170"/>
      </a:accent1>
      <a:accent2>
        <a:srgbClr val="8ABEDC"/>
      </a:accent2>
      <a:accent3>
        <a:srgbClr val="828282"/>
      </a:accent3>
      <a:accent4>
        <a:srgbClr val="00BD70"/>
      </a:accent4>
      <a:accent5>
        <a:srgbClr val="BDBBBB"/>
      </a:accent5>
      <a:accent6>
        <a:srgbClr val="F7C446"/>
      </a:accent6>
      <a:hlink>
        <a:srgbClr val="00BD70"/>
      </a:hlink>
      <a:folHlink>
        <a:srgbClr val="0059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